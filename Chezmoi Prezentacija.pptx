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Karla SemiBold"/>
      <p:regular r:id="rId33"/>
      <p:bold r:id="rId34"/>
      <p:italic r:id="rId35"/>
      <p:boldItalic r:id="rId36"/>
    </p:embeddedFont>
    <p:embeddedFont>
      <p:font typeface="Karla ExtraBold"/>
      <p:bold r:id="rId37"/>
      <p:boldItalic r:id="rId38"/>
    </p:embeddedFont>
    <p:embeddedFont>
      <p:font typeface="Karla Medium"/>
      <p:regular r:id="rId39"/>
      <p:bold r:id="rId40"/>
      <p:italic r:id="rId41"/>
      <p:boldItalic r:id="rId42"/>
    </p:embeddedFont>
    <p:embeddedFont>
      <p:font typeface="Roboto Mono"/>
      <p:regular r:id="rId43"/>
      <p:bold r:id="rId44"/>
      <p:italic r:id="rId45"/>
      <p:boldItalic r:id="rId46"/>
    </p:embeddedFont>
    <p:embeddedFont>
      <p:font typeface="Karla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EA0C5B-CFB7-4523-871C-1D0A5CA2910F}">
  <a:tblStyle styleId="{C3EA0C5B-CFB7-4523-871C-1D0A5CA291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arlaMedium-bold.fntdata"/><Relationship Id="rId42" Type="http://schemas.openxmlformats.org/officeDocument/2006/relationships/font" Target="fonts/KarlaMedium-boldItalic.fntdata"/><Relationship Id="rId41" Type="http://schemas.openxmlformats.org/officeDocument/2006/relationships/font" Target="fonts/KarlaMedium-italic.fntdata"/><Relationship Id="rId44" Type="http://schemas.openxmlformats.org/officeDocument/2006/relationships/font" Target="fonts/RobotoMono-bold.fntdata"/><Relationship Id="rId43" Type="http://schemas.openxmlformats.org/officeDocument/2006/relationships/font" Target="fonts/RobotoMono-regular.fntdata"/><Relationship Id="rId46" Type="http://schemas.openxmlformats.org/officeDocument/2006/relationships/font" Target="fonts/RobotoMono-boldItalic.fntdata"/><Relationship Id="rId45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Karla-bold.fntdata"/><Relationship Id="rId47" Type="http://schemas.openxmlformats.org/officeDocument/2006/relationships/font" Target="fonts/Karla-regular.fntdata"/><Relationship Id="rId49" Type="http://schemas.openxmlformats.org/officeDocument/2006/relationships/font" Target="fonts/Karla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font" Target="fonts/KarlaSemiBold-regular.fntdata"/><Relationship Id="rId32" Type="http://schemas.openxmlformats.org/officeDocument/2006/relationships/slide" Target="slides/slide26.xml"/><Relationship Id="rId35" Type="http://schemas.openxmlformats.org/officeDocument/2006/relationships/font" Target="fonts/KarlaSemiBold-italic.fntdata"/><Relationship Id="rId34" Type="http://schemas.openxmlformats.org/officeDocument/2006/relationships/font" Target="fonts/KarlaSemiBold-bold.fntdata"/><Relationship Id="rId37" Type="http://schemas.openxmlformats.org/officeDocument/2006/relationships/font" Target="fonts/KarlaExtraBold-bold.fntdata"/><Relationship Id="rId36" Type="http://schemas.openxmlformats.org/officeDocument/2006/relationships/font" Target="fonts/KarlaSemiBold-boldItalic.fntdata"/><Relationship Id="rId39" Type="http://schemas.openxmlformats.org/officeDocument/2006/relationships/font" Target="fonts/KarlaMedium-regular.fntdata"/><Relationship Id="rId38" Type="http://schemas.openxmlformats.org/officeDocument/2006/relationships/font" Target="fonts/KarlaExtraBold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Karla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2e6bd908f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2e6bd908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2e6bd908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2e6bd908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2e6bd908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2e6bd908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326569a8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326569a8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326569a86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326569a86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326569a8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326569a8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326569a8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b326569a8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440b3190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b440b3190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b46cb721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b46cb721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b440b319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b440b319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b36ae0b25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b36ae0b25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36ae0b25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36ae0b25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b440b3190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b440b3190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36ae0b25e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b36ae0b25e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b457dc84d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b457dc84d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b36ae0b25e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b36ae0b25e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b457dc84d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b457dc84d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b36ae0b25e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b36ae0b25e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b36ae0b25e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b36ae0b25e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b36ae0b25e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3b36ae0b25e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b457dc84d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b457dc84d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b37d00db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b37d00db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b37d00dbde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b37d00dbd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3b37d00dbde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3b37d00dbde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b37d00dbde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b37d00dbde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7.png"/><Relationship Id="rId5" Type="http://schemas.openxmlformats.org/officeDocument/2006/relationships/image" Target="../media/image19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Relationship Id="rId7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hyperlink" Target="https://docs.github.com/en/repositories/creating-and-managing-repositories/quickstart-for-repositories" TargetMode="External"/><Relationship Id="rId5" Type="http://schemas.openxmlformats.org/officeDocument/2006/relationships/hyperlink" Target="https://docs.github.com/en/migrations/importing-source-code/using-the-command-line-to-import-source-code/adding-locally-hosted-code-to-github" TargetMode="External"/><Relationship Id="rId6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8.png"/><Relationship Id="rId4" Type="http://schemas.openxmlformats.org/officeDocument/2006/relationships/image" Target="../media/image36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0.png"/><Relationship Id="rId4" Type="http://schemas.openxmlformats.org/officeDocument/2006/relationships/image" Target="../media/image37.png"/><Relationship Id="rId5" Type="http://schemas.openxmlformats.org/officeDocument/2006/relationships/image" Target="../media/image41.png"/><Relationship Id="rId6" Type="http://schemas.openxmlformats.org/officeDocument/2006/relationships/image" Target="../media/image35.png"/><Relationship Id="rId7" Type="http://schemas.openxmlformats.org/officeDocument/2006/relationships/image" Target="../media/image21.png"/><Relationship Id="rId8" Type="http://schemas.openxmlformats.org/officeDocument/2006/relationships/image" Target="../media/image4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Relationship Id="rId4" Type="http://schemas.openxmlformats.org/officeDocument/2006/relationships/image" Target="../media/image39.png"/><Relationship Id="rId5" Type="http://schemas.openxmlformats.org/officeDocument/2006/relationships/image" Target="../media/image45.png"/><Relationship Id="rId6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2.png"/><Relationship Id="rId4" Type="http://schemas.openxmlformats.org/officeDocument/2006/relationships/image" Target="../media/image42.png"/><Relationship Id="rId5" Type="http://schemas.openxmlformats.org/officeDocument/2006/relationships/image" Target="../media/image6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6.png"/><Relationship Id="rId4" Type="http://schemas.openxmlformats.org/officeDocument/2006/relationships/image" Target="../media/image67.png"/><Relationship Id="rId5" Type="http://schemas.openxmlformats.org/officeDocument/2006/relationships/image" Target="../media/image50.png"/><Relationship Id="rId6" Type="http://schemas.openxmlformats.org/officeDocument/2006/relationships/image" Target="../media/image5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Relationship Id="rId4" Type="http://schemas.openxmlformats.org/officeDocument/2006/relationships/image" Target="../media/image21.png"/><Relationship Id="rId5" Type="http://schemas.openxmlformats.org/officeDocument/2006/relationships/image" Target="../media/image3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Relationship Id="rId5" Type="http://schemas.openxmlformats.org/officeDocument/2006/relationships/image" Target="../media/image51.png"/><Relationship Id="rId6" Type="http://schemas.openxmlformats.org/officeDocument/2006/relationships/image" Target="../media/image47.png"/><Relationship Id="rId7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Relationship Id="rId5" Type="http://schemas.openxmlformats.org/officeDocument/2006/relationships/image" Target="../media/image57.png"/><Relationship Id="rId6" Type="http://schemas.openxmlformats.org/officeDocument/2006/relationships/image" Target="../media/image60.png"/><Relationship Id="rId7" Type="http://schemas.openxmlformats.org/officeDocument/2006/relationships/image" Target="../media/image5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2.png"/><Relationship Id="rId4" Type="http://schemas.openxmlformats.org/officeDocument/2006/relationships/image" Target="../media/image77.png"/><Relationship Id="rId5" Type="http://schemas.openxmlformats.org/officeDocument/2006/relationships/image" Target="../media/image61.png"/><Relationship Id="rId6" Type="http://schemas.openxmlformats.org/officeDocument/2006/relationships/image" Target="../media/image59.png"/><Relationship Id="rId7" Type="http://schemas.openxmlformats.org/officeDocument/2006/relationships/image" Target="../media/image5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0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3.png"/><Relationship Id="rId4" Type="http://schemas.openxmlformats.org/officeDocument/2006/relationships/image" Target="../media/image7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Relationship Id="rId4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9.png"/><Relationship Id="rId4" Type="http://schemas.openxmlformats.org/officeDocument/2006/relationships/image" Target="../media/image75.png"/><Relationship Id="rId5" Type="http://schemas.openxmlformats.org/officeDocument/2006/relationships/image" Target="../media/image81.png"/><Relationship Id="rId6" Type="http://schemas.openxmlformats.org/officeDocument/2006/relationships/hyperlink" Target="http://drive.google.com/file/d/1TCE7T_uYM5NLKLwTOCPfOHuae16zI2go/view" TargetMode="External"/><Relationship Id="rId7" Type="http://schemas.openxmlformats.org/officeDocument/2006/relationships/image" Target="../media/image7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0.png"/><Relationship Id="rId4" Type="http://schemas.openxmlformats.org/officeDocument/2006/relationships/image" Target="../media/image78.png"/><Relationship Id="rId5" Type="http://schemas.openxmlformats.org/officeDocument/2006/relationships/image" Target="../media/image74.png"/><Relationship Id="rId6" Type="http://schemas.openxmlformats.org/officeDocument/2006/relationships/image" Target="../media/image82.png"/><Relationship Id="rId7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576930"/>
            <a:ext cx="8520600" cy="326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Automatizacija razvojnog okruženja korišćenjem dotfiles repozitorijuma, GitHub-a i alatki za upravljanjem konfiguracijom (Chezmoi)</a:t>
            </a:r>
            <a:endParaRPr b="1" sz="40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-829700" y="-319775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1627625" y="203575"/>
            <a:ext cx="1444200" cy="1444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8126700" y="451375"/>
            <a:ext cx="1196400" cy="11964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7108800" y="1425025"/>
            <a:ext cx="1017900" cy="10179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11700" y="2656575"/>
            <a:ext cx="1728900" cy="17289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" name="Google Shape;60;p13"/>
          <p:cNvGrpSpPr/>
          <p:nvPr/>
        </p:nvGrpSpPr>
        <p:grpSpPr>
          <a:xfrm>
            <a:off x="407175" y="4432138"/>
            <a:ext cx="2163000" cy="509100"/>
            <a:chOff x="407175" y="4432138"/>
            <a:chExt cx="2163000" cy="509100"/>
          </a:xfrm>
        </p:grpSpPr>
        <p:sp>
          <p:nvSpPr>
            <p:cNvPr id="61" name="Google Shape;61;p13"/>
            <p:cNvSpPr/>
            <p:nvPr/>
          </p:nvSpPr>
          <p:spPr>
            <a:xfrm>
              <a:off x="407175" y="4432138"/>
              <a:ext cx="2163000" cy="509100"/>
            </a:xfrm>
            <a:prstGeom prst="roundRect">
              <a:avLst>
                <a:gd fmla="val 16667" name="adj"/>
              </a:avLst>
            </a:prstGeom>
            <a:solidFill>
              <a:srgbClr val="5038A6">
                <a:alpha val="949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487725" y="4500107"/>
              <a:ext cx="2001900" cy="37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5038A6"/>
                  </a:solidFill>
                  <a:latin typeface="Karla SemiBold"/>
                  <a:ea typeface="Karla SemiBold"/>
                  <a:cs typeface="Karla SemiBold"/>
                  <a:sym typeface="Karla SemiBold"/>
                </a:rPr>
                <a:t>Student: Marko Ilić 2092</a:t>
              </a:r>
              <a:endParaRPr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endParaRPr>
            </a:p>
          </p:txBody>
        </p:sp>
      </p:grpSp>
      <p:sp>
        <p:nvSpPr>
          <p:cNvPr id="63" name="Google Shape;63;p13"/>
          <p:cNvSpPr txBox="1"/>
          <p:nvPr/>
        </p:nvSpPr>
        <p:spPr>
          <a:xfrm>
            <a:off x="5975878" y="4500100"/>
            <a:ext cx="26454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Profesor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: Aleksandar Milosavljević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5850253" y="4432150"/>
            <a:ext cx="2851800" cy="509100"/>
          </a:xfrm>
          <a:prstGeom prst="roundRect">
            <a:avLst>
              <a:gd fmla="val 16667" name="adj"/>
            </a:avLst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0" y="2016775"/>
            <a:ext cx="30282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Sadržaj</a:t>
            </a:r>
            <a:endParaRPr b="1" sz="40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549223" y="2893516"/>
            <a:ext cx="36156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Pregled puta ka automatizovanom razvojnom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okruženju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1" name="Google Shape;71;p14"/>
          <p:cNvSpPr/>
          <p:nvPr/>
        </p:nvSpPr>
        <p:spPr>
          <a:xfrm>
            <a:off x="-990875" y="-939000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6990050" y="3952106"/>
            <a:ext cx="3112500" cy="31125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8277205" y="4593419"/>
            <a:ext cx="538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2/26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4164825" y="444725"/>
            <a:ext cx="4650600" cy="509100"/>
          </a:xfrm>
          <a:prstGeom prst="roundRect">
            <a:avLst>
              <a:gd fmla="val 16667" name="adj"/>
            </a:avLst>
          </a:prstGeom>
          <a:solidFill>
            <a:srgbClr val="DFD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/>
        </p:nvSpPr>
        <p:spPr>
          <a:xfrm>
            <a:off x="4302905" y="444810"/>
            <a:ext cx="53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01.</a:t>
            </a:r>
            <a:endParaRPr sz="19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76" name="Google Shape;76;p14"/>
          <p:cNvSpPr/>
          <p:nvPr/>
        </p:nvSpPr>
        <p:spPr>
          <a:xfrm>
            <a:off x="4164825" y="1113600"/>
            <a:ext cx="4650600" cy="509100"/>
          </a:xfrm>
          <a:prstGeom prst="roundRect">
            <a:avLst>
              <a:gd fmla="val 16667" name="adj"/>
            </a:avLst>
          </a:prstGeom>
          <a:solidFill>
            <a:srgbClr val="DFD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4302905" y="1113685"/>
            <a:ext cx="53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02.</a:t>
            </a:r>
            <a:endParaRPr sz="19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4164825" y="1782463"/>
            <a:ext cx="4650600" cy="509100"/>
          </a:xfrm>
          <a:prstGeom prst="roundRect">
            <a:avLst>
              <a:gd fmla="val 16667" name="adj"/>
            </a:avLst>
          </a:prstGeom>
          <a:solidFill>
            <a:srgbClr val="DFD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302905" y="1782548"/>
            <a:ext cx="53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03.</a:t>
            </a:r>
            <a:endParaRPr sz="19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164825" y="2451338"/>
            <a:ext cx="4650600" cy="509100"/>
          </a:xfrm>
          <a:prstGeom prst="roundRect">
            <a:avLst>
              <a:gd fmla="val 16667" name="adj"/>
            </a:avLst>
          </a:prstGeom>
          <a:solidFill>
            <a:srgbClr val="DFD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 txBox="1"/>
          <p:nvPr/>
        </p:nvSpPr>
        <p:spPr>
          <a:xfrm>
            <a:off x="4302905" y="2451423"/>
            <a:ext cx="53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04.</a:t>
            </a:r>
            <a:endParaRPr sz="19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164825" y="3120225"/>
            <a:ext cx="4650600" cy="509100"/>
          </a:xfrm>
          <a:prstGeom prst="roundRect">
            <a:avLst>
              <a:gd fmla="val 16667" name="adj"/>
            </a:avLst>
          </a:prstGeom>
          <a:solidFill>
            <a:srgbClr val="DFD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4"/>
          <p:cNvSpPr txBox="1"/>
          <p:nvPr/>
        </p:nvSpPr>
        <p:spPr>
          <a:xfrm>
            <a:off x="4302905" y="3120310"/>
            <a:ext cx="53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05.</a:t>
            </a:r>
            <a:endParaRPr sz="19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164825" y="3789100"/>
            <a:ext cx="4650600" cy="509100"/>
          </a:xfrm>
          <a:prstGeom prst="roundRect">
            <a:avLst>
              <a:gd fmla="val 16667" name="adj"/>
            </a:avLst>
          </a:prstGeom>
          <a:solidFill>
            <a:srgbClr val="DFD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4302905" y="3789185"/>
            <a:ext cx="538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06.</a:t>
            </a:r>
            <a:endParaRPr sz="19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86" name="Google Shape;86;p14"/>
          <p:cNvSpPr txBox="1"/>
          <p:nvPr>
            <p:ph idx="1" type="subTitle"/>
          </p:nvPr>
        </p:nvSpPr>
        <p:spPr>
          <a:xfrm>
            <a:off x="4739325" y="529925"/>
            <a:ext cx="4076100" cy="33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Problem: “Radi na mojoj mašini… ali ne na tvojoj.”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7" name="Google Shape;87;p14"/>
          <p:cNvSpPr txBox="1"/>
          <p:nvPr>
            <p:ph idx="1" type="subTitle"/>
          </p:nvPr>
        </p:nvSpPr>
        <p:spPr>
          <a:xfrm>
            <a:off x="4747794" y="1182788"/>
            <a:ext cx="4076100" cy="33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Šta su Dotfajlovi (Dotfiles)?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4769657" y="1867663"/>
            <a:ext cx="4076100" cy="33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Evolucija: GNU Stow vs. Chezmoi.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89" name="Google Shape;89;p14"/>
          <p:cNvSpPr txBox="1"/>
          <p:nvPr>
            <p:ph idx="1" type="subTitle"/>
          </p:nvPr>
        </p:nvSpPr>
        <p:spPr>
          <a:xfrm>
            <a:off x="4771834" y="2536575"/>
            <a:ext cx="4076100" cy="33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Glavni tok rada: Dodaj, Izmeni, Primeni, Sinhronizuj.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0" name="Google Shape;90;p14"/>
          <p:cNvSpPr txBox="1"/>
          <p:nvPr>
            <p:ph idx="1" type="subTitle"/>
          </p:nvPr>
        </p:nvSpPr>
        <p:spPr>
          <a:xfrm>
            <a:off x="4769659" y="3205413"/>
            <a:ext cx="4076100" cy="33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Napredni koncepti: Šabloni (Templates) i Okidači (Hooks).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4777609" y="3858313"/>
            <a:ext cx="4076100" cy="33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Rezultat: Podešavanje novog </a:t>
            </a: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laptopa za nekoliko minuta.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ctrTitle"/>
          </p:nvPr>
        </p:nvSpPr>
        <p:spPr>
          <a:xfrm>
            <a:off x="0" y="486700"/>
            <a:ext cx="30282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Problem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-990875" y="-939000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8277205" y="4593419"/>
            <a:ext cx="538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3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5150125" y="833250"/>
            <a:ext cx="3477000" cy="34770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3771600" y="3398800"/>
            <a:ext cx="800400" cy="8004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421450" y="163276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792800" y="1748525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Poslovni laptop se ponaša drugačije od privatnog.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794649" y="151805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Odstupanje konfiguracije (Config Drift)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421450" y="223301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 txBox="1"/>
          <p:nvPr>
            <p:ph idx="1" type="subTitle"/>
          </p:nvPr>
        </p:nvSpPr>
        <p:spPr>
          <a:xfrm>
            <a:off x="792800" y="2348775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Ako mi se laptop pokvari danas, trebaće mi 2 dana da podesim novi.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6" name="Google Shape;106;p15"/>
          <p:cNvSpPr txBox="1"/>
          <p:nvPr>
            <p:ph idx="1" type="subTitle"/>
          </p:nvPr>
        </p:nvSpPr>
        <p:spPr>
          <a:xfrm>
            <a:off x="794649" y="211830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Previše vremena da bi se vratili na “status quo”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421450" y="294796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>
            <p:ph idx="1" type="subTitle"/>
          </p:nvPr>
        </p:nvSpPr>
        <p:spPr>
          <a:xfrm>
            <a:off x="792800" y="3063725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Zaboravljanje aliasa kada promenim računar.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9" name="Google Shape;109;p15"/>
          <p:cNvSpPr txBox="1"/>
          <p:nvPr>
            <p:ph idx="1" type="subTitle"/>
          </p:nvPr>
        </p:nvSpPr>
        <p:spPr>
          <a:xfrm>
            <a:off x="794649" y="283325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Promena konteksta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21450" y="360701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>
            <p:ph idx="1" type="subTitle"/>
          </p:nvPr>
        </p:nvSpPr>
        <p:spPr>
          <a:xfrm>
            <a:off x="792800" y="3722775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“Bojim se da očistim konfiguraciju jer mogu nešto trajno da pokvarim.”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2" name="Google Shape;112;p15"/>
          <p:cNvSpPr txBox="1"/>
          <p:nvPr>
            <p:ph idx="1" type="subTitle"/>
          </p:nvPr>
        </p:nvSpPr>
        <p:spPr>
          <a:xfrm>
            <a:off x="794649" y="349230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Strah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8413" y="1518050"/>
            <a:ext cx="3860424" cy="2107401"/>
          </a:xfrm>
          <a:prstGeom prst="rect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</p:pic>
      <p:pic>
        <p:nvPicPr>
          <p:cNvPr id="114" name="Google Shape;11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702" y="2327150"/>
            <a:ext cx="138685" cy="18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7277" y="1738729"/>
            <a:ext cx="201550" cy="161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285" y="3033775"/>
            <a:ext cx="20155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7357" y="3712975"/>
            <a:ext cx="181391" cy="16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type="ctrTitle"/>
          </p:nvPr>
        </p:nvSpPr>
        <p:spPr>
          <a:xfrm>
            <a:off x="0" y="486700"/>
            <a:ext cx="52770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Šta su “Dotfajlovi”?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7520000" y="-534550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277205" y="4593419"/>
            <a:ext cx="538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4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-1274150" y="3023743"/>
            <a:ext cx="1744800" cy="17448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421450" y="2082052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>
            <p:ph idx="1" type="subTitle"/>
          </p:nvPr>
        </p:nvSpPr>
        <p:spPr>
          <a:xfrm>
            <a:off x="792800" y="1990180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Skriveni fajlovi koji kontrolišu ponašanje tvojih alata (Shell, Git, Editori).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421450" y="2682302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>
            <p:ph idx="1" type="subTitle"/>
          </p:nvPr>
        </p:nvSpPr>
        <p:spPr>
          <a:xfrm>
            <a:off x="792800" y="2586401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Filozofija: Ovi fajlovi nisu smeće. Oni su tvoja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Lična infrastruktura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421450" y="3298408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 txBox="1"/>
          <p:nvPr>
            <p:ph idx="1" type="subTitle"/>
          </p:nvPr>
        </p:nvSpPr>
        <p:spPr>
          <a:xfrm>
            <a:off x="792800" y="3213090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Treba ih verzionisati, bekapovati i testirati kao softver.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450" y="2190446"/>
            <a:ext cx="115200" cy="153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438" y="2779643"/>
            <a:ext cx="115225" cy="16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700" y="3411798"/>
            <a:ext cx="156700" cy="15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1200" y="1287111"/>
            <a:ext cx="4205300" cy="3159228"/>
          </a:xfrm>
          <a:prstGeom prst="rect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 txBox="1"/>
          <p:nvPr>
            <p:ph type="ctrTitle"/>
          </p:nvPr>
        </p:nvSpPr>
        <p:spPr>
          <a:xfrm>
            <a:off x="0" y="325100"/>
            <a:ext cx="90750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Upravljanje Dotfajlovima: Opcije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7520000" y="-534550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277205" y="4593419"/>
            <a:ext cx="538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5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-360200" y="3255418"/>
            <a:ext cx="1744800" cy="17448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 txBox="1"/>
          <p:nvPr>
            <p:ph idx="1" type="subTitle"/>
          </p:nvPr>
        </p:nvSpPr>
        <p:spPr>
          <a:xfrm>
            <a:off x="550448" y="1125491"/>
            <a:ext cx="36156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Evolucija pristupa upravljanju konfiguracijom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612175" y="1719781"/>
            <a:ext cx="2638200" cy="2638200"/>
          </a:xfrm>
          <a:prstGeom prst="roundRect">
            <a:avLst>
              <a:gd fmla="val 5880" name="adj"/>
            </a:avLst>
          </a:prstGeom>
          <a:solidFill>
            <a:srgbClr val="F3F3F3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58475" y="1852075"/>
            <a:ext cx="687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B7B7B7"/>
                </a:solidFill>
                <a:latin typeface="Karla"/>
                <a:ea typeface="Karla"/>
                <a:cs typeface="Karla"/>
                <a:sym typeface="Karla"/>
              </a:rPr>
              <a:t>00</a:t>
            </a:r>
            <a:endParaRPr b="1" sz="2200">
              <a:solidFill>
                <a:srgbClr val="B7B7B7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2473450" y="1987472"/>
            <a:ext cx="499500" cy="4995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0450" y="2131226"/>
            <a:ext cx="185499" cy="211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804900" y="2659050"/>
            <a:ext cx="162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Ručno kopiranje</a:t>
            </a:r>
            <a:endParaRPr b="1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(USB/Cloud)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50" name="Google Shape;150;p17"/>
          <p:cNvCxnSpPr/>
          <p:nvPr/>
        </p:nvCxnSpPr>
        <p:spPr>
          <a:xfrm>
            <a:off x="877300" y="3860125"/>
            <a:ext cx="2113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17"/>
          <p:cNvSpPr txBox="1"/>
          <p:nvPr/>
        </p:nvSpPr>
        <p:spPr>
          <a:xfrm>
            <a:off x="1073575" y="3920138"/>
            <a:ext cx="185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Karla"/>
                <a:ea typeface="Karla"/>
                <a:cs typeface="Karla"/>
                <a:sym typeface="Karla"/>
              </a:rPr>
              <a:t>Podložno greškama</a:t>
            </a:r>
            <a:endParaRPr sz="1200">
              <a:solidFill>
                <a:srgbClr val="FF0000"/>
              </a:solidFill>
            </a:endParaRPr>
          </a:p>
        </p:txBody>
      </p:sp>
      <p:pic>
        <p:nvPicPr>
          <p:cNvPr id="152" name="Google Shape;15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7150" y="4030834"/>
            <a:ext cx="166424" cy="1479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/>
          <p:nvPr/>
        </p:nvSpPr>
        <p:spPr>
          <a:xfrm>
            <a:off x="3484371" y="1734776"/>
            <a:ext cx="2638200" cy="2638200"/>
          </a:xfrm>
          <a:prstGeom prst="roundRect">
            <a:avLst>
              <a:gd fmla="val 5880" name="adj"/>
            </a:avLst>
          </a:prstGeom>
          <a:solidFill>
            <a:srgbClr val="F9F5FE"/>
          </a:solidFill>
          <a:ln cap="flat" cmpd="sng" w="9525">
            <a:solidFill>
              <a:srgbClr val="DFD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3630671" y="1867071"/>
            <a:ext cx="687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5138A5"/>
                </a:solidFill>
                <a:latin typeface="Karla"/>
                <a:ea typeface="Karla"/>
                <a:cs typeface="Karla"/>
                <a:sym typeface="Karla"/>
              </a:rPr>
              <a:t>01</a:t>
            </a:r>
            <a:endParaRPr b="1" sz="22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345646" y="2002468"/>
            <a:ext cx="499500" cy="499500"/>
          </a:xfrm>
          <a:prstGeom prst="ellipse">
            <a:avLst/>
          </a:prstGeom>
          <a:solidFill>
            <a:srgbClr val="DDD8F7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3677111" y="2674046"/>
            <a:ext cx="192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138A5"/>
                </a:solidFill>
                <a:latin typeface="Karla"/>
                <a:ea typeface="Karla"/>
                <a:cs typeface="Karla"/>
                <a:sym typeface="Karla"/>
              </a:rPr>
              <a:t>Simbolički linkovi</a:t>
            </a:r>
            <a:endParaRPr b="1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(GNU Stow)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57" name="Google Shape;157;p17"/>
          <p:cNvCxnSpPr/>
          <p:nvPr/>
        </p:nvCxnSpPr>
        <p:spPr>
          <a:xfrm>
            <a:off x="3749496" y="3875121"/>
            <a:ext cx="2113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7"/>
          <p:cNvSpPr txBox="1"/>
          <p:nvPr/>
        </p:nvSpPr>
        <p:spPr>
          <a:xfrm>
            <a:off x="3945771" y="3935133"/>
            <a:ext cx="185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3B32A"/>
                </a:solidFill>
                <a:latin typeface="Karla"/>
                <a:ea typeface="Karla"/>
                <a:cs typeface="Karla"/>
                <a:sym typeface="Karla"/>
              </a:rPr>
              <a:t>Krhko</a:t>
            </a:r>
            <a:endParaRPr sz="1200">
              <a:solidFill>
                <a:srgbClr val="F3B32A"/>
              </a:solidFill>
            </a:endParaRPr>
          </a:p>
        </p:txBody>
      </p: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7545" y="2144358"/>
            <a:ext cx="215726" cy="21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49504" y="4028071"/>
            <a:ext cx="183450" cy="18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/>
          <p:nvPr/>
        </p:nvSpPr>
        <p:spPr>
          <a:xfrm>
            <a:off x="6327013" y="1724568"/>
            <a:ext cx="2638200" cy="2638200"/>
          </a:xfrm>
          <a:prstGeom prst="roundRect">
            <a:avLst>
              <a:gd fmla="val 5880" name="adj"/>
            </a:avLst>
          </a:prstGeom>
          <a:solidFill>
            <a:srgbClr val="483D95"/>
          </a:solidFill>
          <a:ln cap="flat" cmpd="sng" w="9525">
            <a:solidFill>
              <a:srgbClr val="DFD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473313" y="1856862"/>
            <a:ext cx="6879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7C72B0"/>
                </a:solidFill>
                <a:latin typeface="Karla"/>
                <a:ea typeface="Karla"/>
                <a:cs typeface="Karla"/>
                <a:sym typeface="Karla"/>
              </a:rPr>
              <a:t>01</a:t>
            </a:r>
            <a:endParaRPr b="1" sz="2200">
              <a:solidFill>
                <a:srgbClr val="7C72B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8188288" y="1992259"/>
            <a:ext cx="499500" cy="499500"/>
          </a:xfrm>
          <a:prstGeom prst="ellipse">
            <a:avLst/>
          </a:prstGeom>
          <a:solidFill>
            <a:srgbClr val="7C72B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519752" y="2663837"/>
            <a:ext cx="1921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rPr>
              <a:t>Generisanje fajlova</a:t>
            </a:r>
            <a:endParaRPr b="1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DFD8F7"/>
                </a:solidFill>
                <a:latin typeface="Karla"/>
                <a:ea typeface="Karla"/>
                <a:cs typeface="Karla"/>
                <a:sym typeface="Karla"/>
              </a:rPr>
              <a:t>(Chezmoi)</a:t>
            </a:r>
            <a:endParaRPr sz="1000">
              <a:solidFill>
                <a:srgbClr val="DFD8F7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65" name="Google Shape;165;p17"/>
          <p:cNvCxnSpPr/>
          <p:nvPr/>
        </p:nvCxnSpPr>
        <p:spPr>
          <a:xfrm>
            <a:off x="6592138" y="3864912"/>
            <a:ext cx="2113800" cy="0"/>
          </a:xfrm>
          <a:prstGeom prst="straightConnector1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6" name="Google Shape;166;p17"/>
          <p:cNvSpPr txBox="1"/>
          <p:nvPr/>
        </p:nvSpPr>
        <p:spPr>
          <a:xfrm>
            <a:off x="6760138" y="3920150"/>
            <a:ext cx="185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99E4AE"/>
                </a:solidFill>
                <a:latin typeface="Karla"/>
                <a:ea typeface="Karla"/>
                <a:cs typeface="Karla"/>
                <a:sym typeface="Karla"/>
              </a:rPr>
              <a:t>Robusno</a:t>
            </a:r>
            <a:endParaRPr sz="1200">
              <a:solidFill>
                <a:srgbClr val="99E4AE"/>
              </a:solidFill>
            </a:endParaRPr>
          </a:p>
        </p:txBody>
      </p:sp>
      <p:pic>
        <p:nvPicPr>
          <p:cNvPr id="167" name="Google Shape;167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29785" y="2143939"/>
            <a:ext cx="216525" cy="21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92150" y="4035775"/>
            <a:ext cx="168000" cy="1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/>
          <p:nvPr/>
        </p:nvSpPr>
        <p:spPr>
          <a:xfrm>
            <a:off x="7272000" y="3582374"/>
            <a:ext cx="1230300" cy="12093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8"/>
          <p:cNvSpPr txBox="1"/>
          <p:nvPr>
            <p:ph type="ctrTitle"/>
          </p:nvPr>
        </p:nvSpPr>
        <p:spPr>
          <a:xfrm>
            <a:off x="4426875" y="216750"/>
            <a:ext cx="5150100" cy="14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Šta su Simbolički linkovi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-990875" y="-939000"/>
            <a:ext cx="3036300" cy="29844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277205" y="4593419"/>
            <a:ext cx="538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6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4572000" y="1827585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8"/>
          <p:cNvSpPr txBox="1"/>
          <p:nvPr>
            <p:ph idx="1" type="subTitle"/>
          </p:nvPr>
        </p:nvSpPr>
        <p:spPr>
          <a:xfrm>
            <a:off x="4943350" y="1723890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Definicija: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Simbolički link je “prečica” koja pokazuje za lokacije A na lokaciju B.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4572000" y="2427835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 txBox="1"/>
          <p:nvPr>
            <p:ph idx="1" type="subTitle"/>
          </p:nvPr>
        </p:nvSpPr>
        <p:spPr>
          <a:xfrm>
            <a:off x="4943350" y="2294690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Upotreba: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GNU Stow pravi simlinkove u Home direktorijumu koji pokazuju na Git repozitorijum.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81" name="Google Shape;18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911" y="2518850"/>
            <a:ext cx="143374" cy="1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9975" y="1912350"/>
            <a:ext cx="177201" cy="1772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4588800" y="3154450"/>
            <a:ext cx="3848400" cy="1416000"/>
          </a:xfrm>
          <a:prstGeom prst="rect">
            <a:avLst/>
          </a:prstGeom>
          <a:solidFill>
            <a:srgbClr val="F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4996700" y="3343936"/>
            <a:ext cx="185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0000"/>
                </a:solidFill>
                <a:latin typeface="Karla"/>
                <a:ea typeface="Karla"/>
                <a:cs typeface="Karla"/>
                <a:sym typeface="Karla"/>
              </a:rPr>
              <a:t>Glavne Mane</a:t>
            </a:r>
            <a:endParaRPr sz="1200">
              <a:solidFill>
                <a:srgbClr val="FF0000"/>
              </a:solidFill>
            </a:endParaRPr>
          </a:p>
        </p:txBody>
      </p:sp>
      <p:pic>
        <p:nvPicPr>
          <p:cNvPr id="185" name="Google Shape;18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0275" y="3454633"/>
            <a:ext cx="166424" cy="147924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>
            <p:ph idx="1" type="subTitle"/>
          </p:nvPr>
        </p:nvSpPr>
        <p:spPr>
          <a:xfrm>
            <a:off x="4741250" y="3623800"/>
            <a:ext cx="3696000" cy="954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Ako obrišeš direktorijum ~/repositories/dotfiles, linkovi pucaju ("broken links") i shell se ne učitava.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Teško je imati različit sadržaj fajla za Mac i Linux jer fajl u repozitorijumu mora biti identičan za sve. </a:t>
            </a:r>
            <a:endParaRPr sz="10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4588800" y="3154450"/>
            <a:ext cx="52200" cy="141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491300" y="1473875"/>
            <a:ext cx="3599400" cy="2697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7712" y="1694461"/>
            <a:ext cx="3246576" cy="181204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/>
          <p:nvPr/>
        </p:nvSpPr>
        <p:spPr>
          <a:xfrm>
            <a:off x="581525" y="3510750"/>
            <a:ext cx="3439800" cy="396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8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# Kreiranje simlinka ručno</a:t>
            </a:r>
            <a:endParaRPr b="1" sz="8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ln -s ~/repositories/dotfiles/dot_zshrc ~/.zshrc</a:t>
            </a:r>
            <a:endParaRPr b="1" sz="8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>
            <p:ph type="ctrTitle"/>
          </p:nvPr>
        </p:nvSpPr>
        <p:spPr>
          <a:xfrm>
            <a:off x="0" y="486700"/>
            <a:ext cx="42711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Zašto Chezmoi?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-990875" y="-939000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277205" y="4593419"/>
            <a:ext cx="538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7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150125" y="833250"/>
            <a:ext cx="3477000" cy="34770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3771600" y="3398800"/>
            <a:ext cx="800400" cy="8004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421450" y="163276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9"/>
          <p:cNvSpPr txBox="1"/>
          <p:nvPr>
            <p:ph idx="1" type="subTitle"/>
          </p:nvPr>
        </p:nvSpPr>
        <p:spPr>
          <a:xfrm>
            <a:off x="792800" y="1748525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On je moćan </a:t>
            </a:r>
            <a:r>
              <a:rPr i="1"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Engine za šablone</a:t>
            </a: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koji generiše fajlove.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2" name="Google Shape;202;p19"/>
          <p:cNvSpPr txBox="1"/>
          <p:nvPr>
            <p:ph idx="1" type="subTitle"/>
          </p:nvPr>
        </p:nvSpPr>
        <p:spPr>
          <a:xfrm>
            <a:off x="794649" y="151805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Nije menadžer simlinkova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421450" y="223301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>
            <p:ph idx="1" type="subTitle"/>
          </p:nvPr>
        </p:nvSpPr>
        <p:spPr>
          <a:xfrm>
            <a:off x="792800" y="2348775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Napisano u Go jeziku, bez zavisnosti, lako se instalira.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5" name="Google Shape;205;p19"/>
          <p:cNvSpPr txBox="1"/>
          <p:nvPr>
            <p:ph idx="1" type="subTitle"/>
          </p:nvPr>
        </p:nvSpPr>
        <p:spPr>
          <a:xfrm>
            <a:off x="794649" y="211830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Jedan binarni fajl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421450" y="294796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 txBox="1"/>
          <p:nvPr>
            <p:ph idx="1" type="subTitle"/>
          </p:nvPr>
        </p:nvSpPr>
        <p:spPr>
          <a:xfrm>
            <a:off x="792800" y="3063725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Radi isto na Mac, Linux i Windows sistemima.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8" name="Google Shape;208;p19"/>
          <p:cNvSpPr txBox="1"/>
          <p:nvPr>
            <p:ph idx="1" type="subTitle"/>
          </p:nvPr>
        </p:nvSpPr>
        <p:spPr>
          <a:xfrm>
            <a:off x="794649" y="283325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Agnostičan prema OS-u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421450" y="360701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9"/>
          <p:cNvSpPr txBox="1"/>
          <p:nvPr>
            <p:ph idx="1" type="subTitle"/>
          </p:nvPr>
        </p:nvSpPr>
        <p:spPr>
          <a:xfrm>
            <a:off x="792800" y="3722775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Integracija sa 1Password, Bitwarden, KeePassXC.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1" name="Google Shape;211;p19"/>
          <p:cNvSpPr txBox="1"/>
          <p:nvPr>
            <p:ph idx="1" type="subTitle"/>
          </p:nvPr>
        </p:nvSpPr>
        <p:spPr>
          <a:xfrm>
            <a:off x="794649" y="349230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Upravljanje tajnama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12" name="Google Shape;21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31" y="1743431"/>
            <a:ext cx="151849" cy="151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122" y="2337677"/>
            <a:ext cx="167875" cy="167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622" y="3033483"/>
            <a:ext cx="176850" cy="20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1987" y="3697537"/>
            <a:ext cx="192125" cy="19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9650" y="1572124"/>
            <a:ext cx="3777962" cy="2107400"/>
          </a:xfrm>
          <a:prstGeom prst="rect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type="ctrTitle"/>
          </p:nvPr>
        </p:nvSpPr>
        <p:spPr>
          <a:xfrm>
            <a:off x="0" y="325100"/>
            <a:ext cx="90750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Funkcionalnosti Chezmoi-a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-566725" y="-634825"/>
            <a:ext cx="3005100" cy="30051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8277205" y="4593419"/>
            <a:ext cx="5382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8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224" name="Google Shape;224;p20"/>
          <p:cNvSpPr txBox="1"/>
          <p:nvPr>
            <p:ph idx="1" type="subTitle"/>
          </p:nvPr>
        </p:nvSpPr>
        <p:spPr>
          <a:xfrm>
            <a:off x="2212200" y="1048475"/>
            <a:ext cx="47196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Sveobuhvatan alat koji prevazilazi jednostavno kopiranje fajlova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206000" y="1666950"/>
            <a:ext cx="1593000" cy="24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1973500" y="1666950"/>
            <a:ext cx="1593000" cy="24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3741000" y="1666950"/>
            <a:ext cx="1593000" cy="24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5508500" y="1666950"/>
            <a:ext cx="1593000" cy="24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7276000" y="1666951"/>
            <a:ext cx="1593000" cy="24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206000" y="2387100"/>
            <a:ext cx="15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Kontrola Verzija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254000" y="2773225"/>
            <a:ext cx="1497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Potpuna integracija sa Git-om. Tvoja konfiguracija je kod, sa istorijom izmena, granama i pull request-ovima.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973500" y="2387100"/>
            <a:ext cx="15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Šabloni (Logika)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3741000" y="2387100"/>
            <a:ext cx="15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Automatizacija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5508500" y="2387100"/>
            <a:ext cx="15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Svest o kontekstu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7276000" y="2387100"/>
            <a:ext cx="15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Enkripcija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2021500" y="2773225"/>
            <a:ext cx="1497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Koristi moćne Go šablone za uslovno generisanje fajlova na osnovu OS-a ili imena hosta.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3789000" y="2773225"/>
            <a:ext cx="14970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Pokreni skripte pre ili posle primene izmena. Instaliraj pakete i servise automatski.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5556500" y="2773225"/>
            <a:ext cx="1497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Koristi varijable da prilagodiš konfiguraciju (npr. Poslovni vs. Privatni email) bez dupliranja fajlova.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7324000" y="2773225"/>
            <a:ext cx="1497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Bezbedno čuvaj tajne (API ključeve, lozinke) koristeći integracije sa 1Password, Bitwarden ili GPG.</a:t>
            </a:r>
            <a:endParaRPr/>
          </a:p>
        </p:txBody>
      </p:sp>
      <p:sp>
        <p:nvSpPr>
          <p:cNvPr id="240" name="Google Shape;240;p20"/>
          <p:cNvSpPr/>
          <p:nvPr/>
        </p:nvSpPr>
        <p:spPr>
          <a:xfrm>
            <a:off x="733400" y="1832075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FDE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>
            <a:off x="2500900" y="1826400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DC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"/>
          <p:cNvSpPr/>
          <p:nvPr/>
        </p:nvSpPr>
        <p:spPr>
          <a:xfrm>
            <a:off x="4268400" y="1826400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F0E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6035900" y="1826400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DDF5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7803400" y="1832075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FDE2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5" name="Google Shape;2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178" y="1954550"/>
            <a:ext cx="246651" cy="28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1175" y="1976438"/>
            <a:ext cx="297651" cy="238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6538" y="1990725"/>
            <a:ext cx="261926" cy="20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63767" y="1971229"/>
            <a:ext cx="217475" cy="2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70149" y="1987617"/>
            <a:ext cx="269725" cy="21577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0"/>
          <p:cNvSpPr/>
          <p:nvPr/>
        </p:nvSpPr>
        <p:spPr>
          <a:xfrm>
            <a:off x="7958775" y="4133843"/>
            <a:ext cx="1744800" cy="17448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/>
          <p:nvPr>
            <p:ph type="ctrTitle"/>
          </p:nvPr>
        </p:nvSpPr>
        <p:spPr>
          <a:xfrm>
            <a:off x="946850" y="402864"/>
            <a:ext cx="60945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Instalacija Chezmoi</a:t>
            </a:r>
            <a:endParaRPr b="1" sz="35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-876050" y="1457788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8237445" y="4593425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9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7176100" y="-1263425"/>
            <a:ext cx="3477000" cy="34770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518979" y="617944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1"/>
          <p:cNvSpPr txBox="1"/>
          <p:nvPr>
            <p:ph idx="1" type="subTitle"/>
          </p:nvPr>
        </p:nvSpPr>
        <p:spPr>
          <a:xfrm>
            <a:off x="968872" y="1042367"/>
            <a:ext cx="51678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highlight>
                  <a:srgbClr val="FFFFFF"/>
                </a:highlight>
                <a:latin typeface="Karla SemiBold"/>
                <a:ea typeface="Karla SemiBold"/>
                <a:cs typeface="Karla SemiBold"/>
                <a:sym typeface="Karla SemiBold"/>
              </a:rPr>
              <a:t>Kako postaviti alat od nule na novoj mašini</a:t>
            </a:r>
            <a:endParaRPr sz="1200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491300" y="1473875"/>
            <a:ext cx="8387100" cy="109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940011" y="1573041"/>
            <a:ext cx="249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Preuzimanje binarnog fajla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946850" y="1820814"/>
            <a:ext cx="793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Preuzima najnoviju verziju u ./bin direktorijum.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64" name="Google Shape;264;p21"/>
          <p:cNvSpPr/>
          <p:nvPr/>
        </p:nvSpPr>
        <p:spPr>
          <a:xfrm>
            <a:off x="1048700" y="2099436"/>
            <a:ext cx="7687500" cy="396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sh -c "$(curl -fsLS get.chezmoi.io)" </a:t>
            </a:r>
            <a:endParaRPr b="1"/>
          </a:p>
        </p:txBody>
      </p:sp>
      <p:sp>
        <p:nvSpPr>
          <p:cNvPr id="265" name="Google Shape;265;p21"/>
          <p:cNvSpPr/>
          <p:nvPr/>
        </p:nvSpPr>
        <p:spPr>
          <a:xfrm>
            <a:off x="518975" y="2697378"/>
            <a:ext cx="8387100" cy="109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967686" y="2796544"/>
            <a:ext cx="249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Inicijalizacija repozitorijuma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974525" y="3044317"/>
            <a:ext cx="793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Kreira novi git repo u ~/.local/share/chezmoi. Svi fajlovi kojima upravlja Chezmoi se nalaze u ovom direktorijumu.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1076375" y="3322939"/>
            <a:ext cx="7687500" cy="396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chezmoi init</a:t>
            </a:r>
            <a:endParaRPr b="1" sz="11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703262" y="1646400"/>
            <a:ext cx="238200" cy="238200"/>
          </a:xfrm>
          <a:prstGeom prst="ellipse">
            <a:avLst/>
          </a:prstGeom>
          <a:solidFill>
            <a:srgbClr val="50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703262" y="2866800"/>
            <a:ext cx="238200" cy="238200"/>
          </a:xfrm>
          <a:prstGeom prst="ellipse">
            <a:avLst/>
          </a:prstGeom>
          <a:solidFill>
            <a:srgbClr val="50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685574" y="2813894"/>
            <a:ext cx="2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2</a:t>
            </a:r>
            <a:endParaRPr sz="1000"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pic>
        <p:nvPicPr>
          <p:cNvPr id="272" name="Google Shape;2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75" y="716250"/>
            <a:ext cx="176600" cy="1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1"/>
          <p:cNvSpPr txBox="1"/>
          <p:nvPr/>
        </p:nvSpPr>
        <p:spPr>
          <a:xfrm>
            <a:off x="707541" y="1596150"/>
            <a:ext cx="2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1</a:t>
            </a:r>
            <a:endParaRPr sz="1000"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2"/>
          <p:cNvSpPr txBox="1"/>
          <p:nvPr>
            <p:ph type="ctrTitle"/>
          </p:nvPr>
        </p:nvSpPr>
        <p:spPr>
          <a:xfrm>
            <a:off x="946850" y="402864"/>
            <a:ext cx="60945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Instalacija Chezmoi</a:t>
            </a:r>
            <a:endParaRPr b="1" sz="35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-876050" y="1457788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8237445" y="4593425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10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7176100" y="-1263425"/>
            <a:ext cx="3477000" cy="34770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2"/>
          <p:cNvSpPr/>
          <p:nvPr/>
        </p:nvSpPr>
        <p:spPr>
          <a:xfrm>
            <a:off x="518979" y="617944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2"/>
          <p:cNvSpPr txBox="1"/>
          <p:nvPr>
            <p:ph idx="1" type="subTitle"/>
          </p:nvPr>
        </p:nvSpPr>
        <p:spPr>
          <a:xfrm>
            <a:off x="968872" y="1042367"/>
            <a:ext cx="51678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highlight>
                  <a:srgbClr val="FFFFFF"/>
                </a:highlight>
                <a:latin typeface="Karla SemiBold"/>
                <a:ea typeface="Karla SemiBold"/>
                <a:cs typeface="Karla SemiBold"/>
                <a:sym typeface="Karla SemiBold"/>
              </a:rPr>
              <a:t>Kako postaviti alat od nule na novoj mašini</a:t>
            </a:r>
            <a:endParaRPr sz="1200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284" name="Google Shape;284;p22"/>
          <p:cNvSpPr/>
          <p:nvPr/>
        </p:nvSpPr>
        <p:spPr>
          <a:xfrm>
            <a:off x="491300" y="1473875"/>
            <a:ext cx="8387100" cy="109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939997" y="1573050"/>
            <a:ext cx="3248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Prelazak u Chezmoi direktorijum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6" name="Google Shape;286;p22"/>
          <p:cNvSpPr txBox="1"/>
          <p:nvPr/>
        </p:nvSpPr>
        <p:spPr>
          <a:xfrm>
            <a:off x="946850" y="1820814"/>
            <a:ext cx="793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Prelazak u </a:t>
            </a:r>
            <a:r>
              <a:rPr lang="en" sz="1000">
                <a:solidFill>
                  <a:srgbClr val="4B5563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~/.local/share/chezmoi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87" name="Google Shape;287;p22"/>
          <p:cNvSpPr/>
          <p:nvPr/>
        </p:nvSpPr>
        <p:spPr>
          <a:xfrm>
            <a:off x="1048700" y="2099436"/>
            <a:ext cx="7687500" cy="396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 cd </a:t>
            </a:r>
            <a:endParaRPr b="1"/>
          </a:p>
        </p:txBody>
      </p:sp>
      <p:sp>
        <p:nvSpPr>
          <p:cNvPr id="288" name="Google Shape;288;p22"/>
          <p:cNvSpPr/>
          <p:nvPr/>
        </p:nvSpPr>
        <p:spPr>
          <a:xfrm>
            <a:off x="518975" y="2697378"/>
            <a:ext cx="8387100" cy="109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967660" y="2796550"/>
            <a:ext cx="572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Povezivanje sa remote repozitorijumom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974525" y="3044317"/>
            <a:ext cx="793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Dodeljuje remote (online) repozitorijum na kojem će se čuvati sve izmene u Chezmoi direktorijumu 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291" name="Google Shape;291;p22"/>
          <p:cNvSpPr/>
          <p:nvPr/>
        </p:nvSpPr>
        <p:spPr>
          <a:xfrm>
            <a:off x="1076375" y="3322939"/>
            <a:ext cx="7687500" cy="396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git remote add origin &lt;REMOTE_URL&gt;</a:t>
            </a:r>
            <a:endParaRPr b="1" sz="11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92" name="Google Shape;292;p22"/>
          <p:cNvSpPr/>
          <p:nvPr/>
        </p:nvSpPr>
        <p:spPr>
          <a:xfrm>
            <a:off x="703262" y="1646400"/>
            <a:ext cx="238200" cy="238200"/>
          </a:xfrm>
          <a:prstGeom prst="ellipse">
            <a:avLst/>
          </a:prstGeom>
          <a:solidFill>
            <a:srgbClr val="50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293" name="Google Shape;293;p22"/>
          <p:cNvSpPr/>
          <p:nvPr/>
        </p:nvSpPr>
        <p:spPr>
          <a:xfrm>
            <a:off x="703262" y="2866800"/>
            <a:ext cx="238200" cy="238200"/>
          </a:xfrm>
          <a:prstGeom prst="ellipse">
            <a:avLst/>
          </a:prstGeom>
          <a:solidFill>
            <a:srgbClr val="50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685574" y="2813894"/>
            <a:ext cx="2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4</a:t>
            </a:r>
            <a:endParaRPr sz="1000"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pic>
        <p:nvPicPr>
          <p:cNvPr id="295" name="Google Shape;29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75" y="716250"/>
            <a:ext cx="176600" cy="17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2"/>
          <p:cNvSpPr txBox="1"/>
          <p:nvPr/>
        </p:nvSpPr>
        <p:spPr>
          <a:xfrm>
            <a:off x="686633" y="1596150"/>
            <a:ext cx="2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3</a:t>
            </a:r>
            <a:endParaRPr sz="1000"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297" name="Google Shape;297;p22"/>
          <p:cNvSpPr/>
          <p:nvPr/>
        </p:nvSpPr>
        <p:spPr>
          <a:xfrm>
            <a:off x="549925" y="3861050"/>
            <a:ext cx="7576500" cy="1038000"/>
          </a:xfrm>
          <a:prstGeom prst="roundRect">
            <a:avLst>
              <a:gd fmla="val 16667" name="adj"/>
            </a:avLst>
          </a:prstGeom>
          <a:solidFill>
            <a:srgbClr val="DCEAFE"/>
          </a:solidFill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2"/>
          <p:cNvSpPr txBox="1"/>
          <p:nvPr/>
        </p:nvSpPr>
        <p:spPr>
          <a:xfrm>
            <a:off x="840750" y="4167574"/>
            <a:ext cx="7230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Kreiranje remote repozitorijum-a:</a:t>
            </a:r>
            <a:r>
              <a:rPr lang="en" sz="8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en" sz="8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https://docs.github.com/en/repositories/creating-and-managing-repositories/quickstart-for-repositories</a:t>
            </a:r>
            <a:endParaRPr sz="800">
              <a:solidFill>
                <a:srgbClr val="1565C0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1565C0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Dodatno pojašnjenje kako povezati lokalni repozitorijum (Chezmoi direktorijum) sa remote repozitorijumom (GitHub repo):</a:t>
            </a:r>
            <a:endParaRPr b="1" sz="800">
              <a:solidFill>
                <a:srgbClr val="1565C0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5"/>
              </a:rPr>
              <a:t>https://docs.github.com/en/migrations/importing-source-code/using-the-command-line-to-import-source-code/adding-locally-hosted-code-to-github</a:t>
            </a:r>
            <a:endParaRPr sz="800">
              <a:solidFill>
                <a:srgbClr val="1565C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99" name="Google Shape;29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8538" y="3975450"/>
            <a:ext cx="170925" cy="1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 txBox="1"/>
          <p:nvPr/>
        </p:nvSpPr>
        <p:spPr>
          <a:xfrm>
            <a:off x="839430" y="3891575"/>
            <a:ext cx="5723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Kreiranje remote repozitorijuma na Github-u</a:t>
            </a:r>
            <a:endParaRPr b="1" sz="1000">
              <a:solidFill>
                <a:srgbClr val="1565C0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>
            <p:ph type="ctrTitle"/>
          </p:nvPr>
        </p:nvSpPr>
        <p:spPr>
          <a:xfrm>
            <a:off x="0" y="486700"/>
            <a:ext cx="42711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Arhitektura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-990875" y="-939000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3"/>
          <p:cNvSpPr/>
          <p:nvPr/>
        </p:nvSpPr>
        <p:spPr>
          <a:xfrm>
            <a:off x="5150125" y="833250"/>
            <a:ext cx="3477000" cy="34770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3993600" y="3627625"/>
            <a:ext cx="800400" cy="8004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421450" y="163276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3"/>
          <p:cNvSpPr txBox="1"/>
          <p:nvPr>
            <p:ph idx="1" type="subTitle"/>
          </p:nvPr>
        </p:nvSpPr>
        <p:spPr>
          <a:xfrm>
            <a:off x="792800" y="1748525"/>
            <a:ext cx="3848400" cy="561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D63384"/>
                </a:solidFill>
                <a:highlight>
                  <a:srgbClr val="F4F4F4"/>
                </a:highlight>
                <a:latin typeface="Courier New"/>
                <a:ea typeface="Courier New"/>
                <a:cs typeface="Courier New"/>
                <a:sym typeface="Courier New"/>
              </a:rPr>
              <a:t>~/.local/share/chezmoi</a:t>
            </a:r>
            <a:endParaRPr sz="1250">
              <a:solidFill>
                <a:srgbClr val="D63384"/>
              </a:solidFill>
              <a:highlight>
                <a:srgbClr val="F4F4F4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(Chezmoi direktorijum koji je i Git repozitorijum.)</a:t>
            </a:r>
            <a:endParaRPr sz="850">
              <a:solidFill>
                <a:srgbClr val="D63384"/>
              </a:solidFill>
              <a:highlight>
                <a:srgbClr val="F4F4F4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1" name="Google Shape;311;p23"/>
          <p:cNvSpPr txBox="1"/>
          <p:nvPr>
            <p:ph idx="1" type="subTitle"/>
          </p:nvPr>
        </p:nvSpPr>
        <p:spPr>
          <a:xfrm>
            <a:off x="794649" y="151805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Izvorno stanje (Source)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413950" y="264551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3"/>
          <p:cNvSpPr txBox="1"/>
          <p:nvPr>
            <p:ph idx="1" type="subTitle"/>
          </p:nvPr>
        </p:nvSpPr>
        <p:spPr>
          <a:xfrm>
            <a:off x="785300" y="2761275"/>
            <a:ext cx="3848400" cy="415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63384"/>
                </a:solidFill>
                <a:highlight>
                  <a:srgbClr val="F4F4F4"/>
                </a:highlight>
                <a:latin typeface="Courier New"/>
                <a:ea typeface="Courier New"/>
                <a:cs typeface="Courier New"/>
                <a:sym typeface="Courier New"/>
              </a:rPr>
              <a:t>~</a:t>
            </a: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(Home Dir)</a:t>
            </a:r>
            <a:endParaRPr sz="9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14" name="Google Shape;314;p23"/>
          <p:cNvSpPr txBox="1"/>
          <p:nvPr>
            <p:ph idx="1" type="subTitle"/>
          </p:nvPr>
        </p:nvSpPr>
        <p:spPr>
          <a:xfrm>
            <a:off x="787149" y="253080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Ciljno stanje (Destination)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421450" y="336041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3"/>
          <p:cNvSpPr txBox="1"/>
          <p:nvPr>
            <p:ph idx="1" type="subTitle"/>
          </p:nvPr>
        </p:nvSpPr>
        <p:spPr>
          <a:xfrm>
            <a:off x="792800" y="3476175"/>
            <a:ext cx="3848400" cy="600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D63384"/>
                </a:solidFill>
                <a:highlight>
                  <a:srgbClr val="F4F4F4"/>
                </a:highlight>
                <a:latin typeface="Courier New"/>
                <a:ea typeface="Courier New"/>
                <a:cs typeface="Courier New"/>
                <a:sym typeface="Courier New"/>
              </a:rPr>
              <a:t>chezmoi apply</a:t>
            </a:r>
            <a:r>
              <a:rPr lang="en" sz="15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pomera podatke iz Izvora → Odredište.</a:t>
            </a:r>
            <a:endParaRPr sz="9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17" name="Google Shape;317;p23"/>
          <p:cNvSpPr txBox="1"/>
          <p:nvPr>
            <p:ph idx="1" type="subTitle"/>
          </p:nvPr>
        </p:nvSpPr>
        <p:spPr>
          <a:xfrm>
            <a:off x="794649" y="324570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Komanda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318" name="Google Shape;3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1838" y="1517562"/>
            <a:ext cx="3973574" cy="221652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300" y="1746488"/>
            <a:ext cx="127501" cy="14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125" y="2753502"/>
            <a:ext cx="176849" cy="157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2123" y="3458577"/>
            <a:ext cx="176850" cy="1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3"/>
          <p:cNvSpPr txBox="1"/>
          <p:nvPr/>
        </p:nvSpPr>
        <p:spPr>
          <a:xfrm>
            <a:off x="8237445" y="4593425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11/26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"/>
          <p:cNvSpPr/>
          <p:nvPr/>
        </p:nvSpPr>
        <p:spPr>
          <a:xfrm>
            <a:off x="456250" y="3731825"/>
            <a:ext cx="7239000" cy="1000500"/>
          </a:xfrm>
          <a:prstGeom prst="roundRect">
            <a:avLst>
              <a:gd fmla="val 16667" name="adj"/>
            </a:avLst>
          </a:prstGeom>
          <a:solidFill>
            <a:srgbClr val="51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328" name="Google Shape;328;p24"/>
          <p:cNvSpPr txBox="1"/>
          <p:nvPr>
            <p:ph type="ctrTitle"/>
          </p:nvPr>
        </p:nvSpPr>
        <p:spPr>
          <a:xfrm>
            <a:off x="946850" y="402864"/>
            <a:ext cx="60945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Konvencija Imenovanja</a:t>
            </a:r>
            <a:endParaRPr b="1" sz="35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-731725" y="3683925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4"/>
          <p:cNvSpPr txBox="1"/>
          <p:nvPr/>
        </p:nvSpPr>
        <p:spPr>
          <a:xfrm>
            <a:off x="8237445" y="4593425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12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7176100" y="-1263425"/>
            <a:ext cx="3477000" cy="34770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518979" y="617944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3" name="Google Shape;3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41" y="709097"/>
            <a:ext cx="190876" cy="19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4"/>
          <p:cNvSpPr txBox="1"/>
          <p:nvPr>
            <p:ph idx="1" type="subTitle"/>
          </p:nvPr>
        </p:nvSpPr>
        <p:spPr>
          <a:xfrm>
            <a:off x="968872" y="1042367"/>
            <a:ext cx="51678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highlight>
                  <a:srgbClr val="FFFFFF"/>
                </a:highlight>
                <a:latin typeface="Karla SemiBold"/>
                <a:ea typeface="Karla SemiBold"/>
                <a:cs typeface="Karla SemiBold"/>
                <a:sym typeface="Karla SemiBold"/>
              </a:rPr>
              <a:t>Kako Chezmoi mapira fajlove između tvog sistema i repozitorijuma</a:t>
            </a:r>
            <a:endParaRPr sz="1200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graphicFrame>
        <p:nvGraphicFramePr>
          <p:cNvPr id="335" name="Google Shape;335;p24"/>
          <p:cNvGraphicFramePr/>
          <p:nvPr/>
        </p:nvGraphicFramePr>
        <p:xfrm>
          <a:off x="45625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{C3EA0C5B-CFB7-4523-871C-1D0A5CA2910F}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6B728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🏠Home Directory (Cilj)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5038A6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ℹ️Chezmoi Source (Izvor)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📖</a:t>
                      </a:r>
                      <a:r>
                        <a:rPr lang="en" sz="1200">
                          <a:solidFill>
                            <a:srgbClr val="37415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~/.zshrc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5038A6"/>
                          </a:solidFill>
                          <a:highlight>
                            <a:srgbClr val="FAF5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dot_zshrc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📁</a:t>
                      </a:r>
                      <a:r>
                        <a:rPr lang="en" sz="1200">
                          <a:solidFill>
                            <a:srgbClr val="37415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~/.config/git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rgbClr val="5038A6"/>
                          </a:solidFill>
                          <a:highlight>
                            <a:srgbClr val="FAF5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dot_config/git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🗒️</a:t>
                      </a:r>
                      <a:r>
                        <a:rPr lang="en" sz="1200">
                          <a:solidFill>
                            <a:srgbClr val="37415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~/.local/bin/skripta.sh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rgbClr val="5038A6"/>
                          </a:solidFill>
                          <a:highlight>
                            <a:srgbClr val="FAF5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dot_local/bin/executable_skripta.sh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6" name="Google Shape;336;p24"/>
          <p:cNvSpPr txBox="1"/>
          <p:nvPr/>
        </p:nvSpPr>
        <p:spPr>
          <a:xfrm>
            <a:off x="905584" y="3842000"/>
            <a:ext cx="160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100">
                <a:solidFill>
                  <a:srgbClr val="F3E8FF"/>
                </a:solidFill>
                <a:highlight>
                  <a:srgbClr val="5038A6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Zlatno Pravilo</a:t>
            </a:r>
            <a:endParaRPr sz="1600">
              <a:solidFill>
                <a:schemeClr val="dk2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337" name="Google Shape;337;p24"/>
          <p:cNvSpPr txBox="1"/>
          <p:nvPr/>
        </p:nvSpPr>
        <p:spPr>
          <a:xfrm>
            <a:off x="898900" y="4096321"/>
            <a:ext cx="638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  <a:latin typeface="Karla Medium"/>
                <a:ea typeface="Karla Medium"/>
                <a:cs typeface="Karla Medium"/>
                <a:sym typeface="Karla Medium"/>
              </a:rPr>
              <a:t>Chezmoi ignoriše karakter </a:t>
            </a:r>
            <a:r>
              <a:rPr b="1" lang="en" sz="12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.</a:t>
            </a:r>
            <a:r>
              <a:rPr lang="en" sz="1000">
                <a:solidFill>
                  <a:srgbClr val="FFFFFF"/>
                </a:solidFill>
                <a:latin typeface="Karla Medium"/>
                <a:ea typeface="Karla Medium"/>
                <a:cs typeface="Karla Medium"/>
                <a:sym typeface="Karla Medium"/>
              </a:rPr>
              <a:t> u izvoru (jer su skriveni fajlovi u Gitu nezgodni) i automatski mapira prefiks </a:t>
            </a:r>
            <a:r>
              <a:rPr lang="en" sz="1000">
                <a:solidFill>
                  <a:srgbClr val="FFFFFF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dot_</a:t>
            </a:r>
            <a:r>
              <a:rPr lang="en" sz="1000">
                <a:solidFill>
                  <a:srgbClr val="FFFFFF"/>
                </a:solidFill>
                <a:latin typeface="Karla Medium"/>
                <a:ea typeface="Karla Medium"/>
                <a:cs typeface="Karla Medium"/>
                <a:sym typeface="Karla Medium"/>
              </a:rPr>
              <a:t> nazad u tačku </a:t>
            </a:r>
            <a:r>
              <a:rPr b="1" lang="en" sz="1200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.</a:t>
            </a:r>
            <a:r>
              <a:rPr lang="en" sz="1000">
                <a:solidFill>
                  <a:srgbClr val="FFFFFF"/>
                </a:solidFill>
                <a:latin typeface="Karla Medium"/>
                <a:ea typeface="Karla Medium"/>
                <a:cs typeface="Karla Medium"/>
                <a:sym typeface="Karla Medium"/>
              </a:rPr>
              <a:t> prilikom primene na sistem.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658475" y="3909800"/>
            <a:ext cx="233700" cy="23370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9" name="Google Shape;33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050" y="3956587"/>
            <a:ext cx="52550" cy="140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5"/>
          <p:cNvSpPr txBox="1"/>
          <p:nvPr>
            <p:ph type="ctrTitle"/>
          </p:nvPr>
        </p:nvSpPr>
        <p:spPr>
          <a:xfrm>
            <a:off x="946850" y="402864"/>
            <a:ext cx="60945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Ciklus: Dodaj (Add)</a:t>
            </a:r>
            <a:endParaRPr b="1" sz="35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-876050" y="1457788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8237445" y="4593425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13/26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7176100" y="-1263425"/>
            <a:ext cx="3477000" cy="34770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5"/>
          <p:cNvSpPr/>
          <p:nvPr/>
        </p:nvSpPr>
        <p:spPr>
          <a:xfrm>
            <a:off x="518979" y="617944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"/>
          <p:cNvSpPr txBox="1"/>
          <p:nvPr>
            <p:ph idx="1" type="subTitle"/>
          </p:nvPr>
        </p:nvSpPr>
        <p:spPr>
          <a:xfrm>
            <a:off x="968872" y="1042367"/>
            <a:ext cx="51678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highlight>
                  <a:srgbClr val="FFFFFF"/>
                </a:highlight>
                <a:latin typeface="Karla SemiBold"/>
                <a:ea typeface="Karla SemiBold"/>
                <a:cs typeface="Karla SemiBold"/>
                <a:sym typeface="Karla SemiBold"/>
              </a:rPr>
              <a:t>Prvi korak: Prebacivanje konfiguracije pod kontrolu Chezmoi-a</a:t>
            </a:r>
            <a:endParaRPr sz="1200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491300" y="1473875"/>
            <a:ext cx="8387100" cy="109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5"/>
          <p:cNvSpPr txBox="1"/>
          <p:nvPr/>
        </p:nvSpPr>
        <p:spPr>
          <a:xfrm>
            <a:off x="940011" y="1573041"/>
            <a:ext cx="249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Komanda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52" name="Google Shape;352;p25"/>
          <p:cNvSpPr txBox="1"/>
          <p:nvPr/>
        </p:nvSpPr>
        <p:spPr>
          <a:xfrm>
            <a:off x="946850" y="1820814"/>
            <a:ext cx="793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Prvi korak je prebacivanje postojećeg fajla pod kontrolu Chezmoi-a. Ovo kopira fajl iz Home direktorijuma u Source (Git) direktorijum.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1048700" y="2099436"/>
            <a:ext cx="7687500" cy="396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# Kopira fajl u ~/.local/share/chezmoi</a:t>
            </a:r>
            <a:endParaRPr b="1" sz="11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</a:t>
            </a:r>
            <a:r>
              <a:rPr b="1" lang="en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add ~/.zshrc</a:t>
            </a:r>
            <a:endParaRPr b="1"/>
          </a:p>
        </p:txBody>
      </p:sp>
      <p:sp>
        <p:nvSpPr>
          <p:cNvPr id="354" name="Google Shape;354;p25"/>
          <p:cNvSpPr/>
          <p:nvPr/>
        </p:nvSpPr>
        <p:spPr>
          <a:xfrm>
            <a:off x="703262" y="1646400"/>
            <a:ext cx="238200" cy="238200"/>
          </a:xfrm>
          <a:prstGeom prst="ellipse">
            <a:avLst/>
          </a:prstGeom>
          <a:solidFill>
            <a:srgbClr val="50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355" name="Google Shape;355;p25"/>
          <p:cNvSpPr txBox="1"/>
          <p:nvPr/>
        </p:nvSpPr>
        <p:spPr>
          <a:xfrm>
            <a:off x="705236" y="1596150"/>
            <a:ext cx="2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1</a:t>
            </a:r>
            <a:endParaRPr sz="1000"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356" name="Google Shape;356;p25"/>
          <p:cNvSpPr/>
          <p:nvPr/>
        </p:nvSpPr>
        <p:spPr>
          <a:xfrm>
            <a:off x="518975" y="2744146"/>
            <a:ext cx="8387100" cy="1746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743850" y="2919575"/>
            <a:ext cx="2421600" cy="780300"/>
          </a:xfrm>
          <a:prstGeom prst="roundRect">
            <a:avLst>
              <a:gd fmla="val 16667" name="adj"/>
            </a:avLst>
          </a:prstGeom>
          <a:solidFill>
            <a:srgbClr val="DCEAFE"/>
          </a:solidFill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8" name="Google Shape;35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4725" y="2976309"/>
            <a:ext cx="419849" cy="373201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25"/>
          <p:cNvSpPr/>
          <p:nvPr/>
        </p:nvSpPr>
        <p:spPr>
          <a:xfrm>
            <a:off x="1175850" y="3829775"/>
            <a:ext cx="1557600" cy="566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5"/>
          <p:cNvSpPr txBox="1"/>
          <p:nvPr/>
        </p:nvSpPr>
        <p:spPr>
          <a:xfrm>
            <a:off x="1753300" y="3913025"/>
            <a:ext cx="86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B5563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.zshrc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361" name="Google Shape;36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2363" y="3999175"/>
            <a:ext cx="170925" cy="2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25"/>
          <p:cNvSpPr txBox="1"/>
          <p:nvPr/>
        </p:nvSpPr>
        <p:spPr>
          <a:xfrm>
            <a:off x="1492036" y="3322286"/>
            <a:ext cx="997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B5563"/>
                </a:solidFill>
                <a:latin typeface="Karla"/>
                <a:ea typeface="Karla"/>
                <a:cs typeface="Karla"/>
                <a:sym typeface="Karla"/>
              </a:rPr>
              <a:t>~ (Home Dir)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363" name="Google Shape;363;p25"/>
          <p:cNvCxnSpPr/>
          <p:nvPr/>
        </p:nvCxnSpPr>
        <p:spPr>
          <a:xfrm flipH="1" rot="10800000">
            <a:off x="3510650" y="3583350"/>
            <a:ext cx="2186100" cy="18000"/>
          </a:xfrm>
          <a:prstGeom prst="straightConnector1">
            <a:avLst/>
          </a:prstGeom>
          <a:noFill/>
          <a:ln cap="flat" cmpd="sng" w="28575">
            <a:solidFill>
              <a:srgbClr val="5138A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4" name="Google Shape;364;p25"/>
          <p:cNvSpPr txBox="1"/>
          <p:nvPr/>
        </p:nvSpPr>
        <p:spPr>
          <a:xfrm>
            <a:off x="4252250" y="3109625"/>
            <a:ext cx="865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highlight>
                  <a:srgbClr val="5138A5"/>
                </a:highlight>
                <a:latin typeface="Karla"/>
                <a:ea typeface="Karla"/>
                <a:cs typeface="Karla"/>
                <a:sym typeface="Karla"/>
              </a:rPr>
              <a:t>KOPIRA</a:t>
            </a:r>
            <a:endParaRPr b="1">
              <a:solidFill>
                <a:schemeClr val="lt1"/>
              </a:solidFill>
              <a:highlight>
                <a:srgbClr val="5138A5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6679850" y="3829775"/>
            <a:ext cx="1557600" cy="566700"/>
          </a:xfrm>
          <a:prstGeom prst="roundRect">
            <a:avLst>
              <a:gd fmla="val 16667" name="adj"/>
            </a:avLst>
          </a:prstGeom>
          <a:solidFill>
            <a:srgbClr val="51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6136675" y="2919575"/>
            <a:ext cx="2421600" cy="780300"/>
          </a:xfrm>
          <a:prstGeom prst="roundRect">
            <a:avLst>
              <a:gd fmla="val 16667" name="adj"/>
            </a:avLst>
          </a:prstGeom>
          <a:solidFill>
            <a:srgbClr val="DDD8F7"/>
          </a:solidFill>
          <a:ln cap="flat" cmpd="sng" w="9525">
            <a:solidFill>
              <a:srgbClr val="5138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1552" y="3999175"/>
            <a:ext cx="170925" cy="22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5"/>
          <p:cNvSpPr txBox="1"/>
          <p:nvPr/>
        </p:nvSpPr>
        <p:spPr>
          <a:xfrm>
            <a:off x="7021775" y="3913025"/>
            <a:ext cx="115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7145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FD8F7"/>
                </a:solidFill>
                <a:latin typeface="Karla"/>
                <a:ea typeface="Karla"/>
                <a:cs typeface="Karla"/>
                <a:sym typeface="Karla"/>
              </a:rPr>
              <a:t>dot_zshrc</a:t>
            </a:r>
            <a:endParaRPr b="1">
              <a:solidFill>
                <a:srgbClr val="DFD8F7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69" name="Google Shape;369;p25"/>
          <p:cNvSpPr txBox="1"/>
          <p:nvPr/>
        </p:nvSpPr>
        <p:spPr>
          <a:xfrm>
            <a:off x="6679850" y="3262650"/>
            <a:ext cx="1557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B5563"/>
                </a:solidFill>
                <a:latin typeface="Karla"/>
                <a:ea typeface="Karla"/>
                <a:cs typeface="Karla"/>
                <a:sym typeface="Karla"/>
              </a:rPr>
              <a:t>~/.local/share/chezmoi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70" name="Google Shape;370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72050" y="2976291"/>
            <a:ext cx="373200" cy="331734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5"/>
          <p:cNvSpPr/>
          <p:nvPr/>
        </p:nvSpPr>
        <p:spPr>
          <a:xfrm>
            <a:off x="620125" y="4662725"/>
            <a:ext cx="7617300" cy="373200"/>
          </a:xfrm>
          <a:prstGeom prst="roundRect">
            <a:avLst>
              <a:gd fmla="val 16667" name="adj"/>
            </a:avLst>
          </a:prstGeom>
          <a:solidFill>
            <a:srgbClr val="DCEAFE"/>
          </a:solidFill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5"/>
          <p:cNvSpPr txBox="1"/>
          <p:nvPr/>
        </p:nvSpPr>
        <p:spPr>
          <a:xfrm>
            <a:off x="924396" y="4680868"/>
            <a:ext cx="719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Primetite kako </a:t>
            </a:r>
            <a:r>
              <a:rPr lang="en" sz="1000">
                <a:solidFill>
                  <a:srgbClr val="1565C0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.zshrc</a:t>
            </a:r>
            <a:r>
              <a:rPr lang="en" sz="10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 postaje </a:t>
            </a:r>
            <a:r>
              <a:rPr lang="en" sz="1000">
                <a:solidFill>
                  <a:srgbClr val="1565C0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dot_zshrc</a:t>
            </a:r>
            <a:r>
              <a:rPr lang="en" sz="10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 u Chezmoi direktorijumu. Ovo je automatska konverzija imena. </a:t>
            </a:r>
            <a:endParaRPr sz="1000">
              <a:solidFill>
                <a:srgbClr val="1565C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373" name="Google Shape;373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6888" y="4768488"/>
            <a:ext cx="170925" cy="17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0125" y="706896"/>
            <a:ext cx="170900" cy="195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6"/>
          <p:cNvSpPr/>
          <p:nvPr/>
        </p:nvSpPr>
        <p:spPr>
          <a:xfrm>
            <a:off x="456250" y="3335849"/>
            <a:ext cx="4115700" cy="119430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380" name="Google Shape;380;p26"/>
          <p:cNvSpPr txBox="1"/>
          <p:nvPr>
            <p:ph type="ctrTitle"/>
          </p:nvPr>
        </p:nvSpPr>
        <p:spPr>
          <a:xfrm>
            <a:off x="946850" y="402864"/>
            <a:ext cx="60945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Ciklus: Izmeni (Edit)</a:t>
            </a:r>
            <a:endParaRPr b="1" sz="35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-876050" y="1457788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6"/>
          <p:cNvSpPr txBox="1"/>
          <p:nvPr/>
        </p:nvSpPr>
        <p:spPr>
          <a:xfrm>
            <a:off x="8237445" y="4593425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14/26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518979" y="617944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6"/>
          <p:cNvSpPr txBox="1"/>
          <p:nvPr>
            <p:ph idx="1" type="subTitle"/>
          </p:nvPr>
        </p:nvSpPr>
        <p:spPr>
          <a:xfrm>
            <a:off x="968872" y="1042367"/>
            <a:ext cx="51678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highlight>
                  <a:srgbClr val="FFFFFF"/>
                </a:highlight>
                <a:latin typeface="Karla SemiBold"/>
                <a:ea typeface="Karla SemiBold"/>
                <a:cs typeface="Karla SemiBold"/>
                <a:sym typeface="Karla SemiBold"/>
              </a:rPr>
              <a:t>Kako pravilno menjati konfiguraciju kroz Chezmoi</a:t>
            </a:r>
            <a:endParaRPr sz="1200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385" name="Google Shape;385;p26"/>
          <p:cNvSpPr txBox="1"/>
          <p:nvPr/>
        </p:nvSpPr>
        <p:spPr>
          <a:xfrm>
            <a:off x="905584" y="3446030"/>
            <a:ext cx="160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" sz="1100">
                <a:solidFill>
                  <a:srgbClr val="991B1B"/>
                </a:solidFill>
                <a:highlight>
                  <a:srgbClr val="FEF2F2"/>
                </a:highlight>
                <a:latin typeface="Karla"/>
                <a:ea typeface="Karla"/>
                <a:cs typeface="Karla"/>
                <a:sym typeface="Karla"/>
              </a:rPr>
              <a:t>Važno Pravilo!</a:t>
            </a:r>
            <a:endParaRPr sz="1100">
              <a:solidFill>
                <a:srgbClr val="F3E8FF"/>
              </a:solidFill>
              <a:highlight>
                <a:srgbClr val="5038A6"/>
              </a:highlight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386" name="Google Shape;386;p26"/>
          <p:cNvSpPr txBox="1"/>
          <p:nvPr/>
        </p:nvSpPr>
        <p:spPr>
          <a:xfrm>
            <a:off x="898900" y="3700355"/>
            <a:ext cx="3625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1B1B"/>
                </a:solidFill>
                <a:latin typeface="Karla"/>
                <a:ea typeface="Karla"/>
                <a:cs typeface="Karla"/>
                <a:sym typeface="Karla"/>
              </a:rPr>
              <a:t>Iako kucate putanju do fajla u Home-u (</a:t>
            </a:r>
            <a:r>
              <a:rPr lang="en" sz="1000">
                <a:solidFill>
                  <a:srgbClr val="000C8C"/>
                </a:solidFill>
                <a:latin typeface="Roboto Mono"/>
                <a:ea typeface="Roboto Mono"/>
                <a:cs typeface="Roboto Mono"/>
                <a:sym typeface="Roboto Mono"/>
              </a:rPr>
              <a:t>~/.zshrc</a:t>
            </a:r>
            <a:r>
              <a:rPr lang="en" sz="1000">
                <a:solidFill>
                  <a:srgbClr val="991B1B"/>
                </a:solidFill>
                <a:latin typeface="Karla"/>
                <a:ea typeface="Karla"/>
                <a:cs typeface="Karla"/>
                <a:sym typeface="Karla"/>
              </a:rPr>
              <a:t>), Chezmoi zapravo otvara dot_zshrc koji se nalazi u izvornom repozitorijumu. Promene se čuvaju tamo, a ne direktno na sistemu dok ne uradite </a:t>
            </a:r>
            <a:r>
              <a:rPr lang="en" sz="1000">
                <a:solidFill>
                  <a:srgbClr val="000C8C"/>
                </a:solidFill>
                <a:latin typeface="Roboto Mono"/>
                <a:ea typeface="Roboto Mono"/>
                <a:cs typeface="Roboto Mono"/>
                <a:sym typeface="Roboto Mono"/>
              </a:rPr>
              <a:t>apply</a:t>
            </a:r>
            <a:r>
              <a:rPr lang="en" sz="1000">
                <a:solidFill>
                  <a:srgbClr val="991B1B"/>
                </a:solidFill>
                <a:latin typeface="Karla"/>
                <a:ea typeface="Karla"/>
                <a:cs typeface="Karla"/>
                <a:sym typeface="Karla"/>
              </a:rPr>
              <a:t>. </a:t>
            </a:r>
            <a:endParaRPr sz="1000">
              <a:solidFill>
                <a:srgbClr val="991B1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387" name="Google Shape;38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9150" y="3549076"/>
            <a:ext cx="166424" cy="14792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6"/>
          <p:cNvSpPr/>
          <p:nvPr/>
        </p:nvSpPr>
        <p:spPr>
          <a:xfrm>
            <a:off x="491300" y="1473875"/>
            <a:ext cx="4080600" cy="1564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6"/>
          <p:cNvSpPr txBox="1"/>
          <p:nvPr/>
        </p:nvSpPr>
        <p:spPr>
          <a:xfrm>
            <a:off x="940011" y="1573041"/>
            <a:ext cx="249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Komanda za izmenu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0" name="Google Shape;390;p26"/>
          <p:cNvSpPr txBox="1"/>
          <p:nvPr/>
        </p:nvSpPr>
        <p:spPr>
          <a:xfrm>
            <a:off x="946850" y="1820825"/>
            <a:ext cx="3625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Otvara izvorni fajl u definisanom editoru (vim, nano, code).</a:t>
            </a:r>
            <a:endParaRPr sz="1000">
              <a:solidFill>
                <a:srgbClr val="4B5563"/>
              </a:solidFill>
              <a:highlight>
                <a:srgbClr val="FFFFFF"/>
              </a:highlight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VAŽNO:</a:t>
            </a:r>
            <a:r>
              <a:rPr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Nikada ne menjajte fajl direktno u Home direktorijumu! </a:t>
            </a:r>
            <a:endParaRPr sz="1000">
              <a:solidFill>
                <a:srgbClr val="4B5563"/>
              </a:solidFill>
              <a:highlight>
                <a:srgbClr val="FFFFFF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1004350" y="2467325"/>
            <a:ext cx="2363100" cy="396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</a:t>
            </a:r>
            <a:r>
              <a:rPr b="1" lang="en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edit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~/.zshrc</a:t>
            </a:r>
            <a:endParaRPr b="1"/>
          </a:p>
        </p:txBody>
      </p:sp>
      <p:sp>
        <p:nvSpPr>
          <p:cNvPr id="392" name="Google Shape;392;p26"/>
          <p:cNvSpPr/>
          <p:nvPr/>
        </p:nvSpPr>
        <p:spPr>
          <a:xfrm>
            <a:off x="703262" y="1646400"/>
            <a:ext cx="238200" cy="238200"/>
          </a:xfrm>
          <a:prstGeom prst="ellipse">
            <a:avLst/>
          </a:prstGeom>
          <a:solidFill>
            <a:srgbClr val="50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393" name="Google Shape;393;p26"/>
          <p:cNvSpPr txBox="1"/>
          <p:nvPr/>
        </p:nvSpPr>
        <p:spPr>
          <a:xfrm>
            <a:off x="695805" y="1596150"/>
            <a:ext cx="2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2</a:t>
            </a:r>
            <a:endParaRPr sz="1000"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pic>
        <p:nvPicPr>
          <p:cNvPr id="394" name="Google Shape;39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112" y="728582"/>
            <a:ext cx="170925" cy="15193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26"/>
          <p:cNvSpPr/>
          <p:nvPr/>
        </p:nvSpPr>
        <p:spPr>
          <a:xfrm>
            <a:off x="5150125" y="833250"/>
            <a:ext cx="3477000" cy="34770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0125" y="1411682"/>
            <a:ext cx="3625199" cy="2023386"/>
          </a:xfrm>
          <a:prstGeom prst="rect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</p:pic>
      <p:sp>
        <p:nvSpPr>
          <p:cNvPr id="397" name="Google Shape;397;p26"/>
          <p:cNvSpPr/>
          <p:nvPr/>
        </p:nvSpPr>
        <p:spPr>
          <a:xfrm>
            <a:off x="4971775" y="3650775"/>
            <a:ext cx="4080600" cy="185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"/>
          <p:cNvSpPr txBox="1"/>
          <p:nvPr/>
        </p:nvSpPr>
        <p:spPr>
          <a:xfrm>
            <a:off x="5818660" y="3589725"/>
            <a:ext cx="582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~/.zshrc</a:t>
            </a:r>
            <a:endParaRPr sz="8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6578650" y="3472319"/>
            <a:ext cx="2363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00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Karla Medium"/>
                <a:ea typeface="Karla Medium"/>
                <a:cs typeface="Karla Medium"/>
                <a:sym typeface="Karla Medium"/>
              </a:rPr>
              <a:t>~/.local/share/chezmoi/dot_zshrc </a:t>
            </a:r>
            <a:endParaRPr sz="800">
              <a:solidFill>
                <a:schemeClr val="dk1"/>
              </a:solidFill>
              <a:latin typeface="Karla Medium"/>
              <a:ea typeface="Karla Medium"/>
              <a:cs typeface="Karla Medium"/>
              <a:sym typeface="Karla Medium"/>
            </a:endParaRPr>
          </a:p>
        </p:txBody>
      </p:sp>
      <p:pic>
        <p:nvPicPr>
          <p:cNvPr id="400" name="Google Shape;400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1325" y="3684375"/>
            <a:ext cx="103700" cy="11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 txBox="1"/>
          <p:nvPr>
            <p:ph type="ctrTitle"/>
          </p:nvPr>
        </p:nvSpPr>
        <p:spPr>
          <a:xfrm>
            <a:off x="470650" y="486700"/>
            <a:ext cx="66300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Ciklus: Proveri (Diff)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06" name="Google Shape;406;p27"/>
          <p:cNvSpPr/>
          <p:nvPr/>
        </p:nvSpPr>
        <p:spPr>
          <a:xfrm>
            <a:off x="7520000" y="-534550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7"/>
          <p:cNvSpPr txBox="1"/>
          <p:nvPr/>
        </p:nvSpPr>
        <p:spPr>
          <a:xfrm>
            <a:off x="8182843" y="4593425"/>
            <a:ext cx="6975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15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-1274150" y="3023743"/>
            <a:ext cx="1744800" cy="17448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421450" y="2393265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7"/>
          <p:cNvSpPr txBox="1"/>
          <p:nvPr>
            <p:ph idx="1" type="subTitle"/>
          </p:nvPr>
        </p:nvSpPr>
        <p:spPr>
          <a:xfrm>
            <a:off x="792800" y="238147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3.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</a:t>
            </a:r>
            <a:r>
              <a:rPr b="1" lang="en" sz="12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chezmoi diff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(Pokazuje izmene pre primene).</a:t>
            </a:r>
            <a:endParaRPr sz="9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421450" y="3109058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7"/>
          <p:cNvSpPr txBox="1"/>
          <p:nvPr>
            <p:ph idx="1" type="subTitle"/>
          </p:nvPr>
        </p:nvSpPr>
        <p:spPr>
          <a:xfrm>
            <a:off x="792800" y="3023740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Ovaj korak je ključan za sigurnost - uvek pregledajte diff pre nego što primenite promene.</a:t>
            </a:r>
            <a:endParaRPr sz="9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13" name="Google Shape;41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997" y="2499797"/>
            <a:ext cx="160125" cy="16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124" y="3223724"/>
            <a:ext cx="143849" cy="1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7" title="Screenshot from 2025-12-23 22-36-2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5050" y="1298143"/>
            <a:ext cx="4205300" cy="3156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5163438" y="3184725"/>
            <a:ext cx="1103400" cy="11034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28575">
            <a:solidFill>
              <a:srgbClr val="5138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8"/>
          <p:cNvSpPr txBox="1"/>
          <p:nvPr>
            <p:ph type="ctrTitle"/>
          </p:nvPr>
        </p:nvSpPr>
        <p:spPr>
          <a:xfrm>
            <a:off x="0" y="486700"/>
            <a:ext cx="66300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Ciklus: P</a:t>
            </a: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rimeni (Apply)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7652025" y="-666575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8"/>
          <p:cNvSpPr txBox="1"/>
          <p:nvPr/>
        </p:nvSpPr>
        <p:spPr>
          <a:xfrm>
            <a:off x="8182843" y="4593425"/>
            <a:ext cx="6975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16/26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-1274150" y="3023743"/>
            <a:ext cx="1744800" cy="17448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8"/>
          <p:cNvSpPr/>
          <p:nvPr/>
        </p:nvSpPr>
        <p:spPr>
          <a:xfrm>
            <a:off x="421450" y="2682302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8"/>
          <p:cNvSpPr txBox="1"/>
          <p:nvPr>
            <p:ph idx="1" type="subTitle"/>
          </p:nvPr>
        </p:nvSpPr>
        <p:spPr>
          <a:xfrm>
            <a:off x="792800" y="2671635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4. chezmoi apply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(Generiše fajl i gazi Home verziju).</a:t>
            </a:r>
            <a:endParaRPr sz="9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27" name="Google Shape;42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487" y="2772704"/>
            <a:ext cx="167150" cy="1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8"/>
          <p:cNvSpPr/>
          <p:nvPr/>
        </p:nvSpPr>
        <p:spPr>
          <a:xfrm>
            <a:off x="4677625" y="1433475"/>
            <a:ext cx="4202700" cy="3015600"/>
          </a:xfrm>
          <a:prstGeom prst="roundRect">
            <a:avLst>
              <a:gd fmla="val 16667" name="adj"/>
            </a:avLst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29" name="Google Shape;42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86038" y="3341300"/>
            <a:ext cx="276975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6412" y="2261742"/>
            <a:ext cx="697500" cy="620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9461" y="2307695"/>
            <a:ext cx="594078" cy="5281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28"/>
          <p:cNvSpPr txBox="1"/>
          <p:nvPr/>
        </p:nvSpPr>
        <p:spPr>
          <a:xfrm>
            <a:off x="4800300" y="1716400"/>
            <a:ext cx="182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highlight>
                  <a:srgbClr val="D4D4D4"/>
                </a:highlight>
                <a:latin typeface="Karla"/>
                <a:ea typeface="Karla"/>
                <a:cs typeface="Karla"/>
                <a:sym typeface="Karla"/>
              </a:rPr>
              <a:t>~/.local/share/</a:t>
            </a:r>
            <a:endParaRPr sz="1200">
              <a:solidFill>
                <a:schemeClr val="dk2"/>
              </a:solidFill>
              <a:highlight>
                <a:srgbClr val="D4D4D4"/>
              </a:highlight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highlight>
                  <a:srgbClr val="D4D4D4"/>
                </a:highlight>
                <a:latin typeface="Karla"/>
                <a:ea typeface="Karla"/>
                <a:cs typeface="Karla"/>
                <a:sym typeface="Karla"/>
              </a:rPr>
              <a:t>chezmoi</a:t>
            </a:r>
            <a:endParaRPr sz="1200">
              <a:solidFill>
                <a:schemeClr val="dk2"/>
              </a:solidFill>
              <a:highlight>
                <a:srgbClr val="D4D4D4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3" name="Google Shape;433;p28"/>
          <p:cNvSpPr txBox="1"/>
          <p:nvPr/>
        </p:nvSpPr>
        <p:spPr>
          <a:xfrm>
            <a:off x="7011638" y="1808800"/>
            <a:ext cx="1829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highlight>
                  <a:srgbClr val="D4D4D4"/>
                </a:highlight>
                <a:latin typeface="Karla"/>
                <a:ea typeface="Karla"/>
                <a:cs typeface="Karla"/>
                <a:sym typeface="Karla"/>
              </a:rPr>
              <a:t>Home Directory (~)</a:t>
            </a:r>
            <a:endParaRPr sz="1200">
              <a:solidFill>
                <a:schemeClr val="dk2"/>
              </a:solidFill>
              <a:highlight>
                <a:srgbClr val="D4D4D4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4" name="Google Shape;434;p28"/>
          <p:cNvSpPr txBox="1"/>
          <p:nvPr/>
        </p:nvSpPr>
        <p:spPr>
          <a:xfrm>
            <a:off x="5229523" y="3775125"/>
            <a:ext cx="9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5038A6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dot_zshrc</a:t>
            </a:r>
            <a:endParaRPr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35" name="Google Shape;435;p28"/>
          <p:cNvSpPr/>
          <p:nvPr/>
        </p:nvSpPr>
        <p:spPr>
          <a:xfrm>
            <a:off x="7374788" y="3184725"/>
            <a:ext cx="1103400" cy="1103400"/>
          </a:xfrm>
          <a:prstGeom prst="roundRect">
            <a:avLst>
              <a:gd fmla="val 16667" name="adj"/>
            </a:avLst>
          </a:prstGeom>
          <a:solidFill>
            <a:srgbClr val="F4F4F4"/>
          </a:solidFill>
          <a:ln cap="flat" cmpd="sng" w="2857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6" name="Google Shape;43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7388" y="3341300"/>
            <a:ext cx="276975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8"/>
          <p:cNvSpPr txBox="1"/>
          <p:nvPr/>
        </p:nvSpPr>
        <p:spPr>
          <a:xfrm>
            <a:off x="7440873" y="3775125"/>
            <a:ext cx="99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dot_zshrc</a:t>
            </a:r>
            <a:endParaRPr>
              <a:solidFill>
                <a:schemeClr val="dk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cxnSp>
        <p:nvCxnSpPr>
          <p:cNvPr id="438" name="Google Shape;438;p28"/>
          <p:cNvCxnSpPr/>
          <p:nvPr/>
        </p:nvCxnSpPr>
        <p:spPr>
          <a:xfrm>
            <a:off x="6339475" y="3710600"/>
            <a:ext cx="962700" cy="0"/>
          </a:xfrm>
          <a:prstGeom prst="straightConnector1">
            <a:avLst/>
          </a:prstGeom>
          <a:noFill/>
          <a:ln cap="flat" cmpd="sng" w="28575">
            <a:solidFill>
              <a:srgbClr val="5138A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9" name="Google Shape;439;p28"/>
          <p:cNvSpPr txBox="1"/>
          <p:nvPr/>
        </p:nvSpPr>
        <p:spPr>
          <a:xfrm>
            <a:off x="6247989" y="3341300"/>
            <a:ext cx="1230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highlight>
                  <a:srgbClr val="5138A5"/>
                </a:highlight>
                <a:latin typeface="Karla"/>
                <a:ea typeface="Karla"/>
                <a:cs typeface="Karla"/>
                <a:sym typeface="Karla"/>
              </a:rPr>
              <a:t>chezmoi apply</a:t>
            </a:r>
            <a:endParaRPr b="1" sz="1100">
              <a:solidFill>
                <a:schemeClr val="lt1"/>
              </a:solidFill>
              <a:highlight>
                <a:srgbClr val="5138A5"/>
              </a:highlight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9"/>
          <p:cNvSpPr txBox="1"/>
          <p:nvPr>
            <p:ph type="ctrTitle"/>
          </p:nvPr>
        </p:nvSpPr>
        <p:spPr>
          <a:xfrm>
            <a:off x="946850" y="402875"/>
            <a:ext cx="72252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Šabloni (Templates)</a:t>
            </a:r>
            <a:endParaRPr b="1" sz="35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45" name="Google Shape;445;p29"/>
          <p:cNvSpPr/>
          <p:nvPr/>
        </p:nvSpPr>
        <p:spPr>
          <a:xfrm>
            <a:off x="-1083725" y="4117313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9"/>
          <p:cNvSpPr txBox="1"/>
          <p:nvPr/>
        </p:nvSpPr>
        <p:spPr>
          <a:xfrm>
            <a:off x="8178649" y="4593425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17/26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447" name="Google Shape;447;p29"/>
          <p:cNvSpPr/>
          <p:nvPr/>
        </p:nvSpPr>
        <p:spPr>
          <a:xfrm>
            <a:off x="518979" y="617944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9"/>
          <p:cNvSpPr txBox="1"/>
          <p:nvPr>
            <p:ph idx="1" type="subTitle"/>
          </p:nvPr>
        </p:nvSpPr>
        <p:spPr>
          <a:xfrm>
            <a:off x="968872" y="1042367"/>
            <a:ext cx="51678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highlight>
                  <a:srgbClr val="FFFFFF"/>
                </a:highlight>
                <a:latin typeface="Karla SemiBold"/>
                <a:ea typeface="Karla SemiBold"/>
                <a:cs typeface="Karla SemiBold"/>
                <a:sym typeface="Karla SemiBold"/>
              </a:rPr>
              <a:t>Kako kreirati cross-platform logiku u konfiguraciji</a:t>
            </a:r>
            <a:endParaRPr sz="1200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pic>
        <p:nvPicPr>
          <p:cNvPr id="449" name="Google Shape;4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113" y="719088"/>
            <a:ext cx="170926" cy="170926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9"/>
          <p:cNvSpPr/>
          <p:nvPr/>
        </p:nvSpPr>
        <p:spPr>
          <a:xfrm>
            <a:off x="456300" y="1602050"/>
            <a:ext cx="4115700" cy="58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9"/>
          <p:cNvSpPr txBox="1"/>
          <p:nvPr/>
        </p:nvSpPr>
        <p:spPr>
          <a:xfrm>
            <a:off x="827850" y="1612100"/>
            <a:ext cx="1826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>
                <a:solidFill>
                  <a:srgbClr val="1F2937"/>
                </a:solidFill>
                <a:highlight>
                  <a:srgbClr val="FFFFFF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Dodaj fajl u Chezmoi</a:t>
            </a:r>
            <a:endParaRPr sz="1000">
              <a:solidFill>
                <a:srgbClr val="5038A6"/>
              </a:solidFill>
              <a:highlight>
                <a:srgbClr val="FFFFFF"/>
              </a:highlight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52" name="Google Shape;452;p29"/>
          <p:cNvSpPr/>
          <p:nvPr/>
        </p:nvSpPr>
        <p:spPr>
          <a:xfrm>
            <a:off x="586487" y="1662350"/>
            <a:ext cx="238200" cy="238200"/>
          </a:xfrm>
          <a:prstGeom prst="ellipse">
            <a:avLst/>
          </a:prstGeom>
          <a:solidFill>
            <a:srgbClr val="50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53" name="Google Shape;453;p29"/>
          <p:cNvSpPr/>
          <p:nvPr/>
        </p:nvSpPr>
        <p:spPr>
          <a:xfrm>
            <a:off x="908448" y="1881700"/>
            <a:ext cx="3088800" cy="2382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</a:t>
            </a:r>
            <a:r>
              <a:rPr b="1" lang="en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~/.zshrc</a:t>
            </a:r>
            <a:endParaRPr b="1"/>
          </a:p>
        </p:txBody>
      </p:sp>
      <p:sp>
        <p:nvSpPr>
          <p:cNvPr id="454" name="Google Shape;454;p29"/>
          <p:cNvSpPr txBox="1"/>
          <p:nvPr/>
        </p:nvSpPr>
        <p:spPr>
          <a:xfrm>
            <a:off x="598108" y="1612432"/>
            <a:ext cx="2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1</a:t>
            </a:r>
            <a:endParaRPr sz="1000"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55" name="Google Shape;455;p29"/>
          <p:cNvSpPr/>
          <p:nvPr/>
        </p:nvSpPr>
        <p:spPr>
          <a:xfrm>
            <a:off x="456300" y="2374225"/>
            <a:ext cx="4115700" cy="58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9"/>
          <p:cNvSpPr txBox="1"/>
          <p:nvPr/>
        </p:nvSpPr>
        <p:spPr>
          <a:xfrm>
            <a:off x="827850" y="2384275"/>
            <a:ext cx="29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>
                <a:solidFill>
                  <a:srgbClr val="1F2937"/>
                </a:solidFill>
                <a:highlight>
                  <a:srgbClr val="FFFFFF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Idi u Chezmoi direktorijum</a:t>
            </a:r>
            <a:endParaRPr sz="1000">
              <a:solidFill>
                <a:srgbClr val="5038A6"/>
              </a:solidFill>
              <a:highlight>
                <a:srgbClr val="FFFFFF"/>
              </a:highlight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586487" y="2434525"/>
            <a:ext cx="238200" cy="238200"/>
          </a:xfrm>
          <a:prstGeom prst="ellipse">
            <a:avLst/>
          </a:prstGeom>
          <a:solidFill>
            <a:srgbClr val="50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908448" y="2653875"/>
            <a:ext cx="3088800" cy="2382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</a:t>
            </a:r>
            <a:r>
              <a:rPr b="1" lang="en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cd</a:t>
            </a:r>
            <a:endParaRPr b="1"/>
          </a:p>
        </p:txBody>
      </p:sp>
      <p:sp>
        <p:nvSpPr>
          <p:cNvPr id="459" name="Google Shape;459;p29"/>
          <p:cNvSpPr txBox="1"/>
          <p:nvPr/>
        </p:nvSpPr>
        <p:spPr>
          <a:xfrm>
            <a:off x="573685" y="2384607"/>
            <a:ext cx="2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2</a:t>
            </a:r>
            <a:endParaRPr sz="1000"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456300" y="3212650"/>
            <a:ext cx="4115700" cy="58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9"/>
          <p:cNvSpPr txBox="1"/>
          <p:nvPr/>
        </p:nvSpPr>
        <p:spPr>
          <a:xfrm>
            <a:off x="827850" y="3222700"/>
            <a:ext cx="261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>
                <a:solidFill>
                  <a:srgbClr val="1F2937"/>
                </a:solidFill>
                <a:highlight>
                  <a:srgbClr val="FFFFFF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Preimenuj u .tmpl (Ručno)</a:t>
            </a:r>
            <a:endParaRPr sz="1000">
              <a:solidFill>
                <a:srgbClr val="5038A6"/>
              </a:solidFill>
              <a:highlight>
                <a:srgbClr val="FFFFFF"/>
              </a:highlight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586487" y="3272950"/>
            <a:ext cx="238200" cy="238200"/>
          </a:xfrm>
          <a:prstGeom prst="ellipse">
            <a:avLst/>
          </a:prstGeom>
          <a:solidFill>
            <a:srgbClr val="50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908448" y="3492300"/>
            <a:ext cx="3088800" cy="2382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mv</a:t>
            </a:r>
            <a:r>
              <a:rPr b="1" lang="en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dot_zshrc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 dot_zshrc.tmpl</a:t>
            </a:r>
            <a:endParaRPr b="1"/>
          </a:p>
        </p:txBody>
      </p:sp>
      <p:sp>
        <p:nvSpPr>
          <p:cNvPr id="464" name="Google Shape;464;p29"/>
          <p:cNvSpPr txBox="1"/>
          <p:nvPr/>
        </p:nvSpPr>
        <p:spPr>
          <a:xfrm>
            <a:off x="573685" y="3223032"/>
            <a:ext cx="2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3</a:t>
            </a:r>
            <a:endParaRPr sz="1000"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456300" y="3981075"/>
            <a:ext cx="4115700" cy="584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29"/>
          <p:cNvSpPr txBox="1"/>
          <p:nvPr/>
        </p:nvSpPr>
        <p:spPr>
          <a:xfrm>
            <a:off x="827850" y="3991125"/>
            <a:ext cx="261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>
                <a:solidFill>
                  <a:srgbClr val="1F2937"/>
                </a:solidFill>
                <a:highlight>
                  <a:srgbClr val="FFFFFF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Izmeni šablon</a:t>
            </a:r>
            <a:endParaRPr sz="1000">
              <a:solidFill>
                <a:srgbClr val="5038A6"/>
              </a:solidFill>
              <a:highlight>
                <a:srgbClr val="FFFFFF"/>
              </a:highlight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586487" y="4041375"/>
            <a:ext cx="238200" cy="238200"/>
          </a:xfrm>
          <a:prstGeom prst="ellipse">
            <a:avLst/>
          </a:prstGeom>
          <a:solidFill>
            <a:srgbClr val="50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908448" y="4260725"/>
            <a:ext cx="3088800" cy="2382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</a:t>
            </a:r>
            <a:r>
              <a:rPr b="1" lang="en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edit ~/.zshrc</a:t>
            </a:r>
            <a:endParaRPr b="1"/>
          </a:p>
        </p:txBody>
      </p:sp>
      <p:sp>
        <p:nvSpPr>
          <p:cNvPr id="469" name="Google Shape;469;p29"/>
          <p:cNvSpPr txBox="1"/>
          <p:nvPr/>
        </p:nvSpPr>
        <p:spPr>
          <a:xfrm>
            <a:off x="573685" y="3991457"/>
            <a:ext cx="273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4</a:t>
            </a:r>
            <a:endParaRPr sz="1000">
              <a:solidFill>
                <a:schemeClr val="lt1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4703750" y="3521008"/>
            <a:ext cx="4115700" cy="1038000"/>
          </a:xfrm>
          <a:prstGeom prst="roundRect">
            <a:avLst>
              <a:gd fmla="val 16667" name="adj"/>
            </a:avLst>
          </a:prstGeom>
          <a:solidFill>
            <a:srgbClr val="DCEAFE"/>
          </a:solidFill>
          <a:ln cap="flat" cmpd="sng" w="9525">
            <a:solidFill>
              <a:srgbClr val="9CDC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9"/>
          <p:cNvSpPr txBox="1"/>
          <p:nvPr/>
        </p:nvSpPr>
        <p:spPr>
          <a:xfrm>
            <a:off x="4994574" y="3743898"/>
            <a:ext cx="40338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1.  </a:t>
            </a:r>
            <a:r>
              <a:rPr lang="en" sz="9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Bez ove ekstenzije, Chezmoi tretira fajl kao običan tekst i neće procesirati {{ ... }} blokove.</a:t>
            </a:r>
            <a:endParaRPr sz="900">
              <a:solidFill>
                <a:srgbClr val="1565C0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2. Template fajlovi se moraju ručno kreirati i preimenovati unutar </a:t>
            </a:r>
            <a:r>
              <a:rPr b="1" lang="en" sz="9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~/.local/share/chezmoi/</a:t>
            </a:r>
            <a:r>
              <a:rPr lang="en" sz="9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. Chezmoi neće automatski dodati </a:t>
            </a:r>
            <a:r>
              <a:rPr b="1" lang="en" sz="9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.tmpl</a:t>
            </a:r>
            <a:r>
              <a:rPr lang="en" sz="9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 ekstenziju! </a:t>
            </a:r>
            <a:endParaRPr sz="900">
              <a:solidFill>
                <a:srgbClr val="1565C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72" name="Google Shape;47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2363" y="3635400"/>
            <a:ext cx="170925" cy="17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29"/>
          <p:cNvSpPr txBox="1"/>
          <p:nvPr/>
        </p:nvSpPr>
        <p:spPr>
          <a:xfrm>
            <a:off x="4993282" y="3551529"/>
            <a:ext cx="154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565C0"/>
                </a:solidFill>
                <a:latin typeface="Karla"/>
                <a:ea typeface="Karla"/>
                <a:cs typeface="Karla"/>
                <a:sym typeface="Karla"/>
              </a:rPr>
              <a:t>Korisne informacije</a:t>
            </a:r>
            <a:endParaRPr b="1" sz="1000">
              <a:solidFill>
                <a:srgbClr val="1565C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4703750" y="1602050"/>
            <a:ext cx="4115700" cy="1809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99E4AE"/>
                </a:solidFill>
                <a:latin typeface="Roboto Mono"/>
                <a:ea typeface="Roboto Mono"/>
                <a:cs typeface="Roboto Mono"/>
                <a:sym typeface="Roboto Mono"/>
              </a:rPr>
              <a:t># Primer logike unutar fajla</a:t>
            </a:r>
            <a:endParaRPr sz="1100">
              <a:solidFill>
                <a:srgbClr val="99E4A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alias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copy</a:t>
            </a: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=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”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 </a:t>
            </a:r>
            <a:r>
              <a:rPr b="1"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eq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.chezmoi.os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”darwin”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}}</a:t>
            </a:r>
            <a:endParaRPr sz="11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pbcopy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 </a:t>
            </a:r>
            <a:r>
              <a:rPr b="1"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eq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.chezmoi.os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”linux”</a:t>
            </a: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}}</a:t>
            </a:r>
            <a:endParaRPr sz="11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xclip </a:t>
            </a:r>
            <a:r>
              <a:rPr b="1"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-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selection clipboard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 end }}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”</a:t>
            </a:r>
            <a:endParaRPr sz="11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456300" y="4668350"/>
            <a:ext cx="7239000" cy="338700"/>
          </a:xfrm>
          <a:prstGeom prst="roundRect">
            <a:avLst>
              <a:gd fmla="val 16667" name="adj"/>
            </a:avLst>
          </a:prstGeom>
          <a:solidFill>
            <a:srgbClr val="51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476" name="Google Shape;476;p29"/>
          <p:cNvSpPr txBox="1"/>
          <p:nvPr/>
        </p:nvSpPr>
        <p:spPr>
          <a:xfrm>
            <a:off x="908446" y="4664200"/>
            <a:ext cx="229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100">
                <a:solidFill>
                  <a:srgbClr val="F3E8FF"/>
                </a:solidFill>
                <a:highlight>
                  <a:srgbClr val="5038A6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Rešiti sve jednom komandom:</a:t>
            </a:r>
            <a:endParaRPr sz="1600">
              <a:solidFill>
                <a:schemeClr val="dk2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477" name="Google Shape;477;p29"/>
          <p:cNvSpPr/>
          <p:nvPr/>
        </p:nvSpPr>
        <p:spPr>
          <a:xfrm>
            <a:off x="588725" y="4720850"/>
            <a:ext cx="233700" cy="23370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8" name="Google Shape;47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9300" y="4767637"/>
            <a:ext cx="52550" cy="140124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29"/>
          <p:cNvSpPr/>
          <p:nvPr/>
        </p:nvSpPr>
        <p:spPr>
          <a:xfrm>
            <a:off x="3148118" y="4731849"/>
            <a:ext cx="3088800" cy="2382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</a:t>
            </a:r>
            <a:r>
              <a:rPr b="1" lang="en" sz="1100">
                <a:solidFill>
                  <a:srgbClr val="D4D4D4"/>
                </a:solidFill>
                <a:highlight>
                  <a:srgbClr val="1E1E1E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add --template ~/.zshrc</a:t>
            </a:r>
            <a:endParaRPr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"/>
          <p:cNvSpPr txBox="1"/>
          <p:nvPr>
            <p:ph type="ctrTitle"/>
          </p:nvPr>
        </p:nvSpPr>
        <p:spPr>
          <a:xfrm>
            <a:off x="0" y="486700"/>
            <a:ext cx="77604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Svest o Kontekstu (Varijable)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85" name="Google Shape;485;p30"/>
          <p:cNvSpPr/>
          <p:nvPr/>
        </p:nvSpPr>
        <p:spPr>
          <a:xfrm>
            <a:off x="7520000" y="-534550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0"/>
          <p:cNvSpPr txBox="1"/>
          <p:nvPr/>
        </p:nvSpPr>
        <p:spPr>
          <a:xfrm>
            <a:off x="8182843" y="4593425"/>
            <a:ext cx="6975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18/26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487" name="Google Shape;487;p30"/>
          <p:cNvSpPr/>
          <p:nvPr/>
        </p:nvSpPr>
        <p:spPr>
          <a:xfrm>
            <a:off x="421450" y="1479897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0"/>
          <p:cNvSpPr txBox="1"/>
          <p:nvPr>
            <p:ph idx="1" type="subTitle"/>
          </p:nvPr>
        </p:nvSpPr>
        <p:spPr>
          <a:xfrm>
            <a:off x="792800" y="1468102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Problem: 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Git Email marko@work.com vs marko@gmail.com.</a:t>
            </a:r>
            <a:endParaRPr sz="9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89" name="Google Shape;489;p30"/>
          <p:cNvSpPr/>
          <p:nvPr/>
        </p:nvSpPr>
        <p:spPr>
          <a:xfrm>
            <a:off x="421450" y="2069323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0"/>
          <p:cNvSpPr txBox="1"/>
          <p:nvPr>
            <p:ph idx="1" type="subTitle"/>
          </p:nvPr>
        </p:nvSpPr>
        <p:spPr>
          <a:xfrm>
            <a:off x="792800" y="2058656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Rešenje: </a:t>
            </a:r>
            <a:r>
              <a:rPr b="1"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.chezmoi.toml.tmpl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(Upitnik).</a:t>
            </a:r>
            <a:endParaRPr sz="9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91" name="Google Shape;491;p30"/>
          <p:cNvSpPr/>
          <p:nvPr/>
        </p:nvSpPr>
        <p:spPr>
          <a:xfrm>
            <a:off x="4380900" y="1477661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0"/>
          <p:cNvSpPr txBox="1"/>
          <p:nvPr>
            <p:ph idx="1" type="subTitle"/>
          </p:nvPr>
        </p:nvSpPr>
        <p:spPr>
          <a:xfrm>
            <a:off x="4752250" y="1468110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Pitanje: 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“Da li je ovo poslovni računar?”</a:t>
            </a:r>
            <a:endParaRPr b="1" sz="1200">
              <a:solidFill>
                <a:srgbClr val="333333"/>
              </a:solidFill>
              <a:highlight>
                <a:srgbClr val="FFFFFF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93" name="Google Shape;49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83937" y="2129475"/>
            <a:ext cx="167150" cy="1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30"/>
          <p:cNvSpPr/>
          <p:nvPr/>
        </p:nvSpPr>
        <p:spPr>
          <a:xfrm>
            <a:off x="4380900" y="2026462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0"/>
          <p:cNvSpPr txBox="1"/>
          <p:nvPr>
            <p:ph idx="1" type="subTitle"/>
          </p:nvPr>
        </p:nvSpPr>
        <p:spPr>
          <a:xfrm>
            <a:off x="4752250" y="2014667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Rezultat: 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Varijable se ubacuju u config fajlove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na osnovu odgovora.</a:t>
            </a:r>
            <a:endParaRPr sz="1200">
              <a:solidFill>
                <a:srgbClr val="333333"/>
              </a:solidFill>
              <a:highlight>
                <a:srgbClr val="FFFFFF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496" name="Google Shape;49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288" y="1590741"/>
            <a:ext cx="151524" cy="15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837" y="2187640"/>
            <a:ext cx="102424" cy="13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6048" y="1592842"/>
            <a:ext cx="142876" cy="14282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30"/>
          <p:cNvSpPr/>
          <p:nvPr/>
        </p:nvSpPr>
        <p:spPr>
          <a:xfrm>
            <a:off x="456250" y="2633500"/>
            <a:ext cx="7760400" cy="164880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500" name="Google Shape;500;p30"/>
          <p:cNvSpPr txBox="1"/>
          <p:nvPr/>
        </p:nvSpPr>
        <p:spPr>
          <a:xfrm>
            <a:off x="905584" y="2743680"/>
            <a:ext cx="160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lang="en" sz="1100">
                <a:solidFill>
                  <a:srgbClr val="991B1B"/>
                </a:solidFill>
                <a:highlight>
                  <a:srgbClr val="FEF2F2"/>
                </a:highlight>
                <a:latin typeface="Karla"/>
                <a:ea typeface="Karla"/>
                <a:cs typeface="Karla"/>
                <a:sym typeface="Karla"/>
              </a:rPr>
              <a:t>Važna napomena!</a:t>
            </a:r>
            <a:endParaRPr sz="1100">
              <a:solidFill>
                <a:srgbClr val="F3E8FF"/>
              </a:solidFill>
              <a:highlight>
                <a:srgbClr val="5038A6"/>
              </a:highlight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01" name="Google Shape;501;p30"/>
          <p:cNvSpPr txBox="1"/>
          <p:nvPr/>
        </p:nvSpPr>
        <p:spPr>
          <a:xfrm>
            <a:off x="898900" y="2998000"/>
            <a:ext cx="72840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1B1B"/>
                </a:solidFill>
                <a:latin typeface="Karla"/>
                <a:ea typeface="Karla"/>
                <a:cs typeface="Karla"/>
                <a:sym typeface="Karla"/>
              </a:rPr>
              <a:t>Ovaj fajl ne nastaje automatski pri inicijalizaciji Chezmoi-a pomoću </a:t>
            </a:r>
            <a:r>
              <a:rPr b="1" lang="en" sz="1000">
                <a:solidFill>
                  <a:srgbClr val="991B1B"/>
                </a:solidFill>
                <a:latin typeface="Karla"/>
                <a:ea typeface="Karla"/>
                <a:cs typeface="Karla"/>
                <a:sym typeface="Karla"/>
              </a:rPr>
              <a:t>init</a:t>
            </a:r>
            <a:r>
              <a:rPr lang="en" sz="1000">
                <a:solidFill>
                  <a:srgbClr val="991B1B"/>
                </a:solidFill>
                <a:latin typeface="Karla"/>
                <a:ea typeface="Karla"/>
                <a:cs typeface="Karla"/>
                <a:sym typeface="Karla"/>
              </a:rPr>
              <a:t> komande. </a:t>
            </a:r>
            <a:endParaRPr sz="1000">
              <a:solidFill>
                <a:srgbClr val="991B1B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1B1B"/>
                </a:solidFill>
                <a:latin typeface="Karla"/>
                <a:ea typeface="Karla"/>
                <a:cs typeface="Karla"/>
                <a:sym typeface="Karla"/>
              </a:rPr>
              <a:t>Mora se ručno kreirati:</a:t>
            </a:r>
            <a:endParaRPr sz="1000">
              <a:solidFill>
                <a:srgbClr val="991B1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02" name="Google Shape;502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150" y="2846726"/>
            <a:ext cx="166424" cy="147924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0"/>
          <p:cNvSpPr/>
          <p:nvPr/>
        </p:nvSpPr>
        <p:spPr>
          <a:xfrm>
            <a:off x="969700" y="3541367"/>
            <a:ext cx="5355900" cy="5178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 cd </a:t>
            </a:r>
            <a:r>
              <a:rPr lang="en" sz="1100">
                <a:solidFill>
                  <a:srgbClr val="99E4AE"/>
                </a:solidFill>
                <a:latin typeface="Roboto Mono"/>
                <a:ea typeface="Roboto Mono"/>
                <a:cs typeface="Roboto Mono"/>
                <a:sym typeface="Roboto Mono"/>
              </a:rPr>
              <a:t># Prebaci se u Chezmoi direktorijum</a:t>
            </a:r>
            <a:b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touch .chezmoi.toml.tmpl </a:t>
            </a:r>
            <a:r>
              <a:rPr lang="en" sz="1100">
                <a:solidFill>
                  <a:srgbClr val="99E4AE"/>
                </a:solidFill>
                <a:latin typeface="Roboto Mono"/>
                <a:ea typeface="Roboto Mono"/>
                <a:cs typeface="Roboto Mono"/>
                <a:sym typeface="Roboto Mono"/>
              </a:rPr>
              <a:t># Napravi .chezmoi.toml.tmpl fajl</a:t>
            </a:r>
            <a:endParaRPr b="1" sz="11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4" name="Google Shape;504;p30"/>
          <p:cNvSpPr/>
          <p:nvPr/>
        </p:nvSpPr>
        <p:spPr>
          <a:xfrm>
            <a:off x="7673900" y="4048393"/>
            <a:ext cx="1744800" cy="17448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1"/>
          <p:cNvSpPr txBox="1"/>
          <p:nvPr>
            <p:ph type="ctrTitle"/>
          </p:nvPr>
        </p:nvSpPr>
        <p:spPr>
          <a:xfrm>
            <a:off x="0" y="486700"/>
            <a:ext cx="77604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Svest o Kontekstu (Varijable)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10" name="Google Shape;510;p31"/>
          <p:cNvSpPr/>
          <p:nvPr/>
        </p:nvSpPr>
        <p:spPr>
          <a:xfrm>
            <a:off x="7520000" y="-534550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1"/>
          <p:cNvSpPr txBox="1"/>
          <p:nvPr/>
        </p:nvSpPr>
        <p:spPr>
          <a:xfrm>
            <a:off x="8182843" y="4593425"/>
            <a:ext cx="6975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19/26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512" name="Google Shape;512;p31"/>
          <p:cNvSpPr/>
          <p:nvPr/>
        </p:nvSpPr>
        <p:spPr>
          <a:xfrm>
            <a:off x="380875" y="1569475"/>
            <a:ext cx="4115700" cy="30240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E4AE"/>
                </a:solidFill>
                <a:latin typeface="Roboto Mono"/>
                <a:ea typeface="Roboto Mono"/>
                <a:cs typeface="Roboto Mono"/>
                <a:sym typeface="Roboto Mono"/>
              </a:rPr>
              <a:t># .chezmoi.toml.tmpl fajl</a:t>
            </a:r>
            <a:endParaRPr sz="1100">
              <a:solidFill>
                <a:srgbClr val="99E4A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{{- $email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:= promptStringOnce . “email” “What is your Git email address?”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-}}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{{- $name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:= promptStringOnce . “name” “What is your full name?”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-}}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[data]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email =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$email | quote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 }}</a:t>
            </a:r>
            <a:endParaRPr sz="11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name =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 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$name | quote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 }}</a:t>
            </a:r>
            <a:endParaRPr sz="11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3" name="Google Shape;513;p31"/>
          <p:cNvSpPr/>
          <p:nvPr/>
        </p:nvSpPr>
        <p:spPr>
          <a:xfrm>
            <a:off x="4764650" y="1569475"/>
            <a:ext cx="4115700" cy="30240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E4AE"/>
                </a:solidFill>
                <a:latin typeface="Roboto Mono"/>
                <a:ea typeface="Roboto Mono"/>
                <a:cs typeface="Roboto Mono"/>
                <a:sym typeface="Roboto Mono"/>
              </a:rPr>
              <a:t># .gitconfig fajl</a:t>
            </a:r>
            <a:endParaRPr sz="1100">
              <a:solidFill>
                <a:srgbClr val="99E4A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[user]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name =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 .name }}</a:t>
            </a:r>
            <a:endParaRPr sz="11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email =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 .email }}</a:t>
            </a:r>
            <a:endParaRPr sz="11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[core]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editor = vim</a:t>
            </a:r>
            <a:endParaRPr sz="11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autoclrf = input</a:t>
            </a:r>
            <a:endParaRPr sz="11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4" name="Google Shape;514;p31"/>
          <p:cNvSpPr/>
          <p:nvPr/>
        </p:nvSpPr>
        <p:spPr>
          <a:xfrm>
            <a:off x="7673900" y="4048393"/>
            <a:ext cx="1744800" cy="17448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32"/>
          <p:cNvSpPr/>
          <p:nvPr/>
        </p:nvSpPr>
        <p:spPr>
          <a:xfrm>
            <a:off x="518950" y="4258475"/>
            <a:ext cx="4115700" cy="541500"/>
          </a:xfrm>
          <a:prstGeom prst="roundRect">
            <a:avLst>
              <a:gd fmla="val 16667" name="adj"/>
            </a:avLst>
          </a:prstGeom>
          <a:solidFill>
            <a:srgbClr val="DDD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520" name="Google Shape;520;p32"/>
          <p:cNvSpPr txBox="1"/>
          <p:nvPr>
            <p:ph type="ctrTitle"/>
          </p:nvPr>
        </p:nvSpPr>
        <p:spPr>
          <a:xfrm>
            <a:off x="946850" y="402875"/>
            <a:ext cx="62292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Okidači: Instalacija Softvera</a:t>
            </a:r>
            <a:endParaRPr b="1" sz="35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1" name="Google Shape;521;p32"/>
          <p:cNvSpPr/>
          <p:nvPr/>
        </p:nvSpPr>
        <p:spPr>
          <a:xfrm>
            <a:off x="-876050" y="1457788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2"/>
          <p:cNvSpPr txBox="1"/>
          <p:nvPr/>
        </p:nvSpPr>
        <p:spPr>
          <a:xfrm>
            <a:off x="8190408" y="4593425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20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7176100" y="-1263425"/>
            <a:ext cx="3477000" cy="34770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2"/>
          <p:cNvSpPr/>
          <p:nvPr/>
        </p:nvSpPr>
        <p:spPr>
          <a:xfrm>
            <a:off x="518979" y="617944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2"/>
          <p:cNvSpPr txBox="1"/>
          <p:nvPr>
            <p:ph idx="1" type="subTitle"/>
          </p:nvPr>
        </p:nvSpPr>
        <p:spPr>
          <a:xfrm>
            <a:off x="968872" y="1042367"/>
            <a:ext cx="51678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highlight>
                  <a:srgbClr val="FFFFFF"/>
                </a:highlight>
                <a:latin typeface="Karla SemiBold"/>
                <a:ea typeface="Karla SemiBold"/>
                <a:cs typeface="Karla SemiBold"/>
                <a:sym typeface="Karla SemiBold"/>
              </a:rPr>
              <a:t>Automatizovano instaliranje paketa kada se promeni konfiguracija</a:t>
            </a:r>
            <a:endParaRPr sz="1200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526" name="Google Shape;526;p32"/>
          <p:cNvSpPr txBox="1"/>
          <p:nvPr/>
        </p:nvSpPr>
        <p:spPr>
          <a:xfrm>
            <a:off x="925112" y="4345925"/>
            <a:ext cx="367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74151"/>
                </a:solidFill>
                <a:highlight>
                  <a:srgbClr val="DDD8F7"/>
                </a:highlight>
                <a:latin typeface="Karla"/>
                <a:ea typeface="Karla"/>
                <a:cs typeface="Karla"/>
                <a:sym typeface="Karla"/>
              </a:rPr>
              <a:t>Rezultat: P</a:t>
            </a:r>
            <a:r>
              <a:rPr lang="en" sz="1000">
                <a:solidFill>
                  <a:srgbClr val="374151"/>
                </a:solidFill>
                <a:highlight>
                  <a:srgbClr val="DDD8F7"/>
                </a:highlight>
                <a:latin typeface="Karla"/>
                <a:ea typeface="Karla"/>
                <a:cs typeface="Karla"/>
                <a:sym typeface="Karla"/>
              </a:rPr>
              <a:t>otpuna "Infrastruktura kao kod" za tvoj laptop.</a:t>
            </a:r>
            <a:endParaRPr sz="900">
              <a:solidFill>
                <a:srgbClr val="991B1B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491300" y="1465281"/>
            <a:ext cx="4115700" cy="109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2"/>
          <p:cNvSpPr txBox="1"/>
          <p:nvPr/>
        </p:nvSpPr>
        <p:spPr>
          <a:xfrm>
            <a:off x="926963" y="1564444"/>
            <a:ext cx="249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Magični Fajl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9" name="Google Shape;529;p32"/>
          <p:cNvSpPr txBox="1"/>
          <p:nvPr/>
        </p:nvSpPr>
        <p:spPr>
          <a:xfrm>
            <a:off x="925103" y="1844700"/>
            <a:ext cx="403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74151"/>
                </a:solidFill>
                <a:highlight>
                  <a:srgbClr val="F9FAFB"/>
                </a:highlight>
                <a:latin typeface="Courier New"/>
                <a:ea typeface="Courier New"/>
                <a:cs typeface="Courier New"/>
                <a:sym typeface="Courier New"/>
              </a:rPr>
              <a:t>run_onchange_install_packages.sh.tmpl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518975" y="2928275"/>
            <a:ext cx="4115700" cy="109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2"/>
          <p:cNvSpPr txBox="1"/>
          <p:nvPr/>
        </p:nvSpPr>
        <p:spPr>
          <a:xfrm>
            <a:off x="947202" y="3027453"/>
            <a:ext cx="2491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13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Logika Izvršavanja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2" name="Google Shape;532;p32"/>
          <p:cNvSpPr txBox="1"/>
          <p:nvPr/>
        </p:nvSpPr>
        <p:spPr>
          <a:xfrm>
            <a:off x="974525" y="3275234"/>
            <a:ext cx="3297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✅</a:t>
            </a:r>
            <a:r>
              <a:rPr lang="en" sz="1100">
                <a:solidFill>
                  <a:srgbClr val="374151"/>
                </a:solidFill>
                <a:latin typeface="Karla"/>
                <a:ea typeface="Karla"/>
                <a:cs typeface="Karla"/>
                <a:sym typeface="Karla"/>
              </a:rPr>
              <a:t>Chezmoi računa Hash fajla pre i posle izmene.</a:t>
            </a:r>
            <a:endParaRPr sz="1100">
              <a:solidFill>
                <a:srgbClr val="37415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✅</a:t>
            </a:r>
            <a:r>
              <a:rPr lang="en" sz="1100">
                <a:solidFill>
                  <a:srgbClr val="374151"/>
                </a:solidFill>
                <a:latin typeface="Karla"/>
                <a:ea typeface="Karla"/>
                <a:cs typeface="Karla"/>
                <a:sym typeface="Karla"/>
              </a:rPr>
              <a:t>Ako je Hash drugačiji → Pokreće skriptu.</a:t>
            </a:r>
            <a:endParaRPr sz="1100">
              <a:solidFill>
                <a:srgbClr val="37415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✅</a:t>
            </a:r>
            <a:r>
              <a:rPr lang="en" sz="1100">
                <a:solidFill>
                  <a:srgbClr val="374151"/>
                </a:solidFill>
                <a:latin typeface="Karla"/>
                <a:ea typeface="Karla"/>
                <a:cs typeface="Karla"/>
                <a:sym typeface="Karla"/>
              </a:rPr>
              <a:t>Ako je Hash isti → Preskače (štedi vreme).</a:t>
            </a:r>
            <a:endParaRPr sz="1100">
              <a:solidFill>
                <a:srgbClr val="37415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33" name="Google Shape;53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50" y="716865"/>
            <a:ext cx="109650" cy="17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9986" y="4407299"/>
            <a:ext cx="144749" cy="21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112" y="1624603"/>
            <a:ext cx="198474" cy="264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2"/>
          <p:cNvSpPr txBox="1"/>
          <p:nvPr/>
        </p:nvSpPr>
        <p:spPr>
          <a:xfrm>
            <a:off x="1076375" y="2157528"/>
            <a:ext cx="347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800">
                <a:solidFill>
                  <a:srgbClr val="6B7280"/>
                </a:solidFill>
                <a:latin typeface="Karla"/>
                <a:ea typeface="Karla"/>
                <a:cs typeface="Karla"/>
                <a:sym typeface="Karla"/>
              </a:rPr>
              <a:t>Skripta se pokreće samo kada se njen sadržaj (lista paketa) promeni.</a:t>
            </a:r>
            <a:endParaRPr b="1" sz="8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537" name="Google Shape;537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4528" y="2237293"/>
            <a:ext cx="148250" cy="14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0864" y="3128420"/>
            <a:ext cx="182950" cy="182976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2"/>
          <p:cNvSpPr/>
          <p:nvPr/>
        </p:nvSpPr>
        <p:spPr>
          <a:xfrm>
            <a:off x="4891000" y="1457800"/>
            <a:ext cx="4115700" cy="30240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9CDCFE"/>
                </a:solidFill>
                <a:latin typeface="Roboto Mono"/>
                <a:ea typeface="Roboto Mono"/>
                <a:cs typeface="Roboto Mono"/>
                <a:sym typeface="Roboto Mono"/>
              </a:rPr>
              <a:t>#!/bin/bash</a:t>
            </a:r>
            <a:endParaRPr b="1" sz="900">
              <a:solidFill>
                <a:srgbClr val="9CDCF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99E4A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E4AE"/>
                </a:solidFill>
                <a:latin typeface="Roboto Mono"/>
                <a:ea typeface="Roboto Mono"/>
                <a:cs typeface="Roboto Mono"/>
                <a:sym typeface="Roboto Mono"/>
              </a:rPr>
              <a:t># Ova skripta se izvršava kada se promeni Hash.</a:t>
            </a:r>
            <a:endParaRPr sz="900">
              <a:solidFill>
                <a:srgbClr val="99E4A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99E4A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packages=(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git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tmux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neovim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ripgrep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 </a:t>
            </a:r>
            <a:r>
              <a:rPr b="1" lang="en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eq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.chezmoi.os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”darwin”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}}</a:t>
            </a:r>
            <a:endParaRPr sz="9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brew install "${packages[@]}"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 </a:t>
            </a:r>
            <a:r>
              <a:rPr b="1" lang="en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r>
              <a:rPr lang="en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eq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.chezmoi.os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" sz="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”linux”</a:t>
            </a: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}}</a:t>
            </a:r>
            <a:endParaRPr sz="9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</a:t>
            </a: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sudo apt update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   sudo apt install -y "${packages[@]}"</a:t>
            </a:r>
            <a:endParaRPr sz="9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{{ end }}</a:t>
            </a:r>
            <a:endParaRPr sz="900">
              <a:solidFill>
                <a:srgbClr val="1AB1C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3"/>
          <p:cNvSpPr/>
          <p:nvPr/>
        </p:nvSpPr>
        <p:spPr>
          <a:xfrm>
            <a:off x="6979750" y="1588325"/>
            <a:ext cx="2037300" cy="300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3"/>
          <p:cNvSpPr/>
          <p:nvPr/>
        </p:nvSpPr>
        <p:spPr>
          <a:xfrm>
            <a:off x="4707767" y="1588325"/>
            <a:ext cx="2037300" cy="300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3"/>
          <p:cNvSpPr/>
          <p:nvPr/>
        </p:nvSpPr>
        <p:spPr>
          <a:xfrm>
            <a:off x="2463263" y="1588325"/>
            <a:ext cx="2037300" cy="300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3"/>
          <p:cNvSpPr txBox="1"/>
          <p:nvPr>
            <p:ph type="ctrTitle"/>
          </p:nvPr>
        </p:nvSpPr>
        <p:spPr>
          <a:xfrm>
            <a:off x="0" y="325100"/>
            <a:ext cx="90750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Chezmoi Hook Skripte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48" name="Google Shape;548;p33"/>
          <p:cNvSpPr/>
          <p:nvPr/>
        </p:nvSpPr>
        <p:spPr>
          <a:xfrm>
            <a:off x="-566725" y="-634825"/>
            <a:ext cx="3005100" cy="30051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3"/>
          <p:cNvSpPr txBox="1"/>
          <p:nvPr/>
        </p:nvSpPr>
        <p:spPr>
          <a:xfrm>
            <a:off x="8194747" y="4593425"/>
            <a:ext cx="6837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21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550" name="Google Shape;550;p33"/>
          <p:cNvSpPr txBox="1"/>
          <p:nvPr>
            <p:ph idx="1" type="subTitle"/>
          </p:nvPr>
        </p:nvSpPr>
        <p:spPr>
          <a:xfrm>
            <a:off x="1595650" y="1048475"/>
            <a:ext cx="57282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latin typeface="Karla"/>
                <a:ea typeface="Karla"/>
                <a:cs typeface="Karla"/>
                <a:sym typeface="Karla"/>
              </a:rPr>
              <a:t>Potpuna kontrola nad izvršavanjem skripti tokom primene izmena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139750" y="1588325"/>
            <a:ext cx="2037300" cy="3005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3"/>
          <p:cNvSpPr txBox="1"/>
          <p:nvPr/>
        </p:nvSpPr>
        <p:spPr>
          <a:xfrm>
            <a:off x="272375" y="2370800"/>
            <a:ext cx="18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r</a:t>
            </a: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un_once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53" name="Google Shape;553;p33"/>
          <p:cNvSpPr txBox="1"/>
          <p:nvPr/>
        </p:nvSpPr>
        <p:spPr>
          <a:xfrm>
            <a:off x="239075" y="3044125"/>
            <a:ext cx="1843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Pokreće se samo ako skripta ranije nije izvršena ili ako se njen sadržaj promenio. Idealno za inicijalna podešavanja (npr. instalacija fontova). </a:t>
            </a:r>
            <a:endParaRPr/>
          </a:p>
        </p:txBody>
      </p:sp>
      <p:sp>
        <p:nvSpPr>
          <p:cNvPr id="554" name="Google Shape;554;p33"/>
          <p:cNvSpPr/>
          <p:nvPr/>
        </p:nvSpPr>
        <p:spPr>
          <a:xfrm>
            <a:off x="5456529" y="1758586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FDE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3"/>
          <p:cNvSpPr/>
          <p:nvPr/>
        </p:nvSpPr>
        <p:spPr>
          <a:xfrm>
            <a:off x="3227513" y="1773650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DC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3"/>
          <p:cNvSpPr/>
          <p:nvPr/>
        </p:nvSpPr>
        <p:spPr>
          <a:xfrm>
            <a:off x="7700375" y="1791138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F0E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3"/>
          <p:cNvSpPr/>
          <p:nvPr/>
        </p:nvSpPr>
        <p:spPr>
          <a:xfrm>
            <a:off x="891875" y="1773638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DDF5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8" name="Google Shape;55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2102" y="1923864"/>
            <a:ext cx="237750" cy="2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3"/>
          <p:cNvSpPr txBox="1"/>
          <p:nvPr/>
        </p:nvSpPr>
        <p:spPr>
          <a:xfrm>
            <a:off x="272500" y="2740625"/>
            <a:ext cx="1810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Jednokratno izvršavanje</a:t>
            </a:r>
            <a:endParaRPr b="1" sz="9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0" name="Google Shape;560;p33"/>
          <p:cNvSpPr txBox="1"/>
          <p:nvPr/>
        </p:nvSpPr>
        <p:spPr>
          <a:xfrm>
            <a:off x="2593188" y="2395638"/>
            <a:ext cx="18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run_onchange_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61" name="Google Shape;561;p33"/>
          <p:cNvSpPr txBox="1"/>
          <p:nvPr/>
        </p:nvSpPr>
        <p:spPr>
          <a:xfrm>
            <a:off x="2559888" y="3068963"/>
            <a:ext cx="18438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Pokreće se svaki put kada se promeni sadržaj skripte (ili hash fajla). Savršeno za instalaciju paketa kada dodate novi alat u listu. </a:t>
            </a:r>
            <a:endParaRPr/>
          </a:p>
        </p:txBody>
      </p:sp>
      <p:sp>
        <p:nvSpPr>
          <p:cNvPr id="562" name="Google Shape;562;p33"/>
          <p:cNvSpPr txBox="1"/>
          <p:nvPr/>
        </p:nvSpPr>
        <p:spPr>
          <a:xfrm>
            <a:off x="2593313" y="2765463"/>
            <a:ext cx="1810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Na promenu sadržaja</a:t>
            </a:r>
            <a:endParaRPr b="1" sz="9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3" name="Google Shape;563;p33"/>
          <p:cNvSpPr txBox="1"/>
          <p:nvPr/>
        </p:nvSpPr>
        <p:spPr>
          <a:xfrm>
            <a:off x="4813267" y="2388714"/>
            <a:ext cx="18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run_before_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64" name="Google Shape;564;p33"/>
          <p:cNvSpPr txBox="1"/>
          <p:nvPr/>
        </p:nvSpPr>
        <p:spPr>
          <a:xfrm>
            <a:off x="4779967" y="3062039"/>
            <a:ext cx="18438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Izvršava se pre nego što chezmoi modifikuje bilo koji fajl u odredištu. Korisno za dešifrovanje tajni ili pripremu environment-a. </a:t>
            </a:r>
            <a:endParaRPr/>
          </a:p>
        </p:txBody>
      </p:sp>
      <p:sp>
        <p:nvSpPr>
          <p:cNvPr id="565" name="Google Shape;565;p33"/>
          <p:cNvSpPr txBox="1"/>
          <p:nvPr/>
        </p:nvSpPr>
        <p:spPr>
          <a:xfrm>
            <a:off x="4813392" y="2750398"/>
            <a:ext cx="1810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Pre primene izmena</a:t>
            </a:r>
            <a:endParaRPr b="1" sz="9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9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6" name="Google Shape;566;p33"/>
          <p:cNvSpPr txBox="1"/>
          <p:nvPr/>
        </p:nvSpPr>
        <p:spPr>
          <a:xfrm>
            <a:off x="7093013" y="2394493"/>
            <a:ext cx="181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run_after_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67" name="Google Shape;567;p33"/>
          <p:cNvSpPr txBox="1"/>
          <p:nvPr/>
        </p:nvSpPr>
        <p:spPr>
          <a:xfrm>
            <a:off x="7059713" y="3067818"/>
            <a:ext cx="18438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Izvršava se nakon što su svi fajlovi uspešno ažurirani. Koristi se za cleanup, restartovanje servisa ili reload shell-a. </a:t>
            </a:r>
            <a:endParaRPr/>
          </a:p>
        </p:txBody>
      </p:sp>
      <p:sp>
        <p:nvSpPr>
          <p:cNvPr id="568" name="Google Shape;568;p33"/>
          <p:cNvSpPr txBox="1"/>
          <p:nvPr/>
        </p:nvSpPr>
        <p:spPr>
          <a:xfrm>
            <a:off x="7093138" y="2764318"/>
            <a:ext cx="18105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9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 Posle primene izmena</a:t>
            </a:r>
            <a:endParaRPr b="1" sz="9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69" name="Google Shape;569;p33"/>
          <p:cNvSpPr/>
          <p:nvPr/>
        </p:nvSpPr>
        <p:spPr>
          <a:xfrm>
            <a:off x="139750" y="4674525"/>
            <a:ext cx="7184100" cy="317400"/>
          </a:xfrm>
          <a:prstGeom prst="roundRect">
            <a:avLst>
              <a:gd fmla="val 16667" name="adj"/>
            </a:avLst>
          </a:prstGeom>
          <a:solidFill>
            <a:srgbClr val="51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570" name="Google Shape;570;p33"/>
          <p:cNvSpPr txBox="1"/>
          <p:nvPr/>
        </p:nvSpPr>
        <p:spPr>
          <a:xfrm>
            <a:off x="575675" y="4678350"/>
            <a:ext cx="674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>
                <a:solidFill>
                  <a:srgbClr val="F3E8FF"/>
                </a:solidFill>
                <a:highlight>
                  <a:srgbClr val="5038A6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Napomena: </a:t>
            </a:r>
            <a:r>
              <a:rPr lang="en" sz="700">
                <a:solidFill>
                  <a:schemeClr val="lt1"/>
                </a:solidFill>
                <a:latin typeface="Karla Medium"/>
                <a:ea typeface="Karla Medium"/>
                <a:cs typeface="Karla Medium"/>
                <a:sym typeface="Karla Medium"/>
              </a:rPr>
              <a:t>Skripte se podrazumevano izvršavaju samo ako su izvršne (`chmod +x`), osim ako se ne konfiguriše drugačije.</a:t>
            </a:r>
            <a:endParaRPr sz="1300">
              <a:solidFill>
                <a:schemeClr val="dk2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71" name="Google Shape;571;p33"/>
          <p:cNvSpPr/>
          <p:nvPr/>
        </p:nvSpPr>
        <p:spPr>
          <a:xfrm>
            <a:off x="458708" y="4753225"/>
            <a:ext cx="150900" cy="15090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2" name="Google Shape;57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308" y="4783625"/>
            <a:ext cx="33800" cy="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2464" y="1941375"/>
            <a:ext cx="178322" cy="23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37275" y="1908790"/>
            <a:ext cx="178300" cy="237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79700" y="1908800"/>
            <a:ext cx="237750" cy="23775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3"/>
          <p:cNvSpPr/>
          <p:nvPr/>
        </p:nvSpPr>
        <p:spPr>
          <a:xfrm>
            <a:off x="7958775" y="4133843"/>
            <a:ext cx="1744800" cy="17448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4"/>
          <p:cNvSpPr txBox="1"/>
          <p:nvPr>
            <p:ph type="ctrTitle"/>
          </p:nvPr>
        </p:nvSpPr>
        <p:spPr>
          <a:xfrm>
            <a:off x="0" y="325100"/>
            <a:ext cx="90750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Okidači: Jednokratno podešavanje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82" name="Google Shape;582;p34"/>
          <p:cNvSpPr/>
          <p:nvPr/>
        </p:nvSpPr>
        <p:spPr>
          <a:xfrm>
            <a:off x="-566725" y="-634825"/>
            <a:ext cx="3005100" cy="30051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4"/>
          <p:cNvSpPr txBox="1"/>
          <p:nvPr/>
        </p:nvSpPr>
        <p:spPr>
          <a:xfrm>
            <a:off x="8194747" y="4593425"/>
            <a:ext cx="6837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22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584" name="Google Shape;584;p34"/>
          <p:cNvSpPr txBox="1"/>
          <p:nvPr>
            <p:ph idx="1" type="subTitle"/>
          </p:nvPr>
        </p:nvSpPr>
        <p:spPr>
          <a:xfrm>
            <a:off x="2212200" y="1048475"/>
            <a:ext cx="47196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latin typeface="Karla"/>
                <a:ea typeface="Karla"/>
                <a:cs typeface="Karla"/>
                <a:sym typeface="Karla"/>
              </a:rPr>
              <a:t>Automatizacija početnih koraka sa </a:t>
            </a:r>
            <a:r>
              <a:rPr lang="en" sz="1200">
                <a:solidFill>
                  <a:srgbClr val="7E22CE"/>
                </a:solidFill>
                <a:highlight>
                  <a:srgbClr val="F3F4F6"/>
                </a:highlight>
                <a:latin typeface="Courier New"/>
                <a:ea typeface="Courier New"/>
                <a:cs typeface="Courier New"/>
                <a:sym typeface="Courier New"/>
              </a:rPr>
              <a:t>run_once_</a:t>
            </a:r>
            <a:r>
              <a:rPr lang="en" sz="1200">
                <a:solidFill>
                  <a:srgbClr val="6B7280"/>
                </a:solidFill>
                <a:latin typeface="Karla"/>
                <a:ea typeface="Karla"/>
                <a:cs typeface="Karla"/>
                <a:sym typeface="Karla"/>
              </a:rPr>
              <a:t> skriptama</a:t>
            </a:r>
            <a:endParaRPr sz="12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206000" y="1666950"/>
            <a:ext cx="1593000" cy="24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86" name="Google Shape;586;p34"/>
          <p:cNvSpPr/>
          <p:nvPr/>
        </p:nvSpPr>
        <p:spPr>
          <a:xfrm>
            <a:off x="1973500" y="1666950"/>
            <a:ext cx="1593000" cy="24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4"/>
          <p:cNvSpPr/>
          <p:nvPr/>
        </p:nvSpPr>
        <p:spPr>
          <a:xfrm>
            <a:off x="3741000" y="1666950"/>
            <a:ext cx="1593000" cy="24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4"/>
          <p:cNvSpPr/>
          <p:nvPr/>
        </p:nvSpPr>
        <p:spPr>
          <a:xfrm>
            <a:off x="5508500" y="1666950"/>
            <a:ext cx="1593000" cy="24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4"/>
          <p:cNvSpPr/>
          <p:nvPr/>
        </p:nvSpPr>
        <p:spPr>
          <a:xfrm>
            <a:off x="7276000" y="1666951"/>
            <a:ext cx="1593000" cy="24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4"/>
          <p:cNvSpPr txBox="1"/>
          <p:nvPr/>
        </p:nvSpPr>
        <p:spPr>
          <a:xfrm>
            <a:off x="206000" y="2387100"/>
            <a:ext cx="15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Logika Fajla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91" name="Google Shape;591;p34"/>
          <p:cNvSpPr txBox="1"/>
          <p:nvPr/>
        </p:nvSpPr>
        <p:spPr>
          <a:xfrm>
            <a:off x="254000" y="2773225"/>
            <a:ext cx="1497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Skripte sa prefiksom </a:t>
            </a:r>
            <a:r>
              <a:rPr b="1" lang="en" sz="1050">
                <a:solidFill>
                  <a:srgbClr val="9333EA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run_once_</a:t>
            </a: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se izvršavaju samo jednom, osim ako se sadržaj (hash) fajla ne promeni.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592" name="Google Shape;592;p34"/>
          <p:cNvSpPr txBox="1"/>
          <p:nvPr/>
        </p:nvSpPr>
        <p:spPr>
          <a:xfrm>
            <a:off x="1973500" y="2387100"/>
            <a:ext cx="15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Promena Shell-a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93" name="Google Shape;593;p34"/>
          <p:cNvSpPr txBox="1"/>
          <p:nvPr/>
        </p:nvSpPr>
        <p:spPr>
          <a:xfrm>
            <a:off x="3741000" y="2387100"/>
            <a:ext cx="15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Kloniranje Repoa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94" name="Google Shape;594;p34"/>
          <p:cNvSpPr txBox="1"/>
          <p:nvPr/>
        </p:nvSpPr>
        <p:spPr>
          <a:xfrm>
            <a:off x="5508500" y="2387100"/>
            <a:ext cx="15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Resursi &amp; Fontovi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95" name="Google Shape;595;p34"/>
          <p:cNvSpPr txBox="1"/>
          <p:nvPr/>
        </p:nvSpPr>
        <p:spPr>
          <a:xfrm>
            <a:off x="7276000" y="2387100"/>
            <a:ext cx="159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chemeClr val="dk1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Idempotentnost</a:t>
            </a:r>
            <a:endParaRPr sz="1300"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596" name="Google Shape;596;p34"/>
          <p:cNvSpPr txBox="1"/>
          <p:nvPr/>
        </p:nvSpPr>
        <p:spPr>
          <a:xfrm>
            <a:off x="2021500" y="2773225"/>
            <a:ext cx="14970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Automatsko postavljanje podrazumevanog shell-a (npr. </a:t>
            </a:r>
            <a:r>
              <a:rPr lang="en" sz="1050">
                <a:solidFill>
                  <a:srgbClr val="6B7280"/>
                </a:solidFill>
                <a:highlight>
                  <a:srgbClr val="F3F4F6"/>
                </a:highlight>
                <a:latin typeface="Courier New"/>
                <a:ea typeface="Courier New"/>
                <a:cs typeface="Courier New"/>
                <a:sym typeface="Courier New"/>
              </a:rPr>
              <a:t>chsh -s /bin/zsh</a:t>
            </a: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) bez potrebe za ručnom intervencijom.</a:t>
            </a:r>
            <a:endParaRPr/>
          </a:p>
        </p:txBody>
      </p:sp>
      <p:sp>
        <p:nvSpPr>
          <p:cNvPr id="597" name="Google Shape;597;p34"/>
          <p:cNvSpPr txBox="1"/>
          <p:nvPr/>
        </p:nvSpPr>
        <p:spPr>
          <a:xfrm>
            <a:off x="3789000" y="2773225"/>
            <a:ext cx="14970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Preuzimanje dodatnih repozitorijuma kao što su privatne beleške, Vim pluginovi ili teme u odgovarajuće foldere.</a:t>
            </a:r>
            <a:endParaRPr/>
          </a:p>
        </p:txBody>
      </p:sp>
      <p:sp>
        <p:nvSpPr>
          <p:cNvPr id="598" name="Google Shape;598;p34"/>
          <p:cNvSpPr txBox="1"/>
          <p:nvPr/>
        </p:nvSpPr>
        <p:spPr>
          <a:xfrm>
            <a:off x="5556500" y="2773225"/>
            <a:ext cx="14970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Jednokratno preuzimanje i instalacija Nerd Fontova, pozadina i drugih velikih resursa neophodnih za rad.</a:t>
            </a:r>
            <a:endParaRPr/>
          </a:p>
        </p:txBody>
      </p:sp>
      <p:sp>
        <p:nvSpPr>
          <p:cNvPr id="599" name="Google Shape;599;p34"/>
          <p:cNvSpPr txBox="1"/>
          <p:nvPr/>
        </p:nvSpPr>
        <p:spPr>
          <a:xfrm>
            <a:off x="7324000" y="2773225"/>
            <a:ext cx="1497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6B7280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Osigurava da se teške operacije ne ponavljaju nepotrebno. Skripta "zna" da li je već uspešno izvršena.</a:t>
            </a:r>
            <a:endParaRPr/>
          </a:p>
        </p:txBody>
      </p:sp>
      <p:sp>
        <p:nvSpPr>
          <p:cNvPr id="600" name="Google Shape;600;p34"/>
          <p:cNvSpPr/>
          <p:nvPr/>
        </p:nvSpPr>
        <p:spPr>
          <a:xfrm>
            <a:off x="6035900" y="1832075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FDEBD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4"/>
          <p:cNvSpPr/>
          <p:nvPr/>
        </p:nvSpPr>
        <p:spPr>
          <a:xfrm>
            <a:off x="4268400" y="1826400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DCEA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34"/>
          <p:cNvSpPr/>
          <p:nvPr/>
        </p:nvSpPr>
        <p:spPr>
          <a:xfrm>
            <a:off x="733400" y="1832075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F0E5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4"/>
          <p:cNvSpPr/>
          <p:nvPr/>
        </p:nvSpPr>
        <p:spPr>
          <a:xfrm>
            <a:off x="7805775" y="1832075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DDF5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4"/>
          <p:cNvSpPr/>
          <p:nvPr/>
        </p:nvSpPr>
        <p:spPr>
          <a:xfrm>
            <a:off x="2500900" y="1826400"/>
            <a:ext cx="538200" cy="538200"/>
          </a:xfrm>
          <a:prstGeom prst="roundRect">
            <a:avLst>
              <a:gd fmla="val 16667" name="adj"/>
            </a:avLst>
          </a:prstGeom>
          <a:solidFill>
            <a:srgbClr val="F4F6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5" name="Google Shape;6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387" y="1991555"/>
            <a:ext cx="246649" cy="219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56002" y="1982302"/>
            <a:ext cx="237750" cy="23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6262" y="1975525"/>
            <a:ext cx="219874" cy="25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34325" y="1957940"/>
            <a:ext cx="206350" cy="275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24275" y="1973250"/>
            <a:ext cx="291450" cy="233149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34"/>
          <p:cNvSpPr/>
          <p:nvPr/>
        </p:nvSpPr>
        <p:spPr>
          <a:xfrm>
            <a:off x="7958775" y="4133843"/>
            <a:ext cx="1744800" cy="17448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5"/>
          <p:cNvSpPr/>
          <p:nvPr/>
        </p:nvSpPr>
        <p:spPr>
          <a:xfrm>
            <a:off x="562075" y="3190300"/>
            <a:ext cx="7239000" cy="1530900"/>
          </a:xfrm>
          <a:prstGeom prst="roundRect">
            <a:avLst>
              <a:gd fmla="val 16667" name="adj"/>
            </a:avLst>
          </a:prstGeom>
          <a:solidFill>
            <a:srgbClr val="51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616" name="Google Shape;616;p35"/>
          <p:cNvSpPr txBox="1"/>
          <p:nvPr>
            <p:ph type="ctrTitle"/>
          </p:nvPr>
        </p:nvSpPr>
        <p:spPr>
          <a:xfrm>
            <a:off x="946850" y="402864"/>
            <a:ext cx="60945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Upravljanje Skriptama</a:t>
            </a:r>
            <a:endParaRPr b="1" sz="35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17" name="Google Shape;617;p35"/>
          <p:cNvSpPr/>
          <p:nvPr/>
        </p:nvSpPr>
        <p:spPr>
          <a:xfrm>
            <a:off x="-731725" y="3683925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5"/>
          <p:cNvSpPr txBox="1"/>
          <p:nvPr/>
        </p:nvSpPr>
        <p:spPr>
          <a:xfrm>
            <a:off x="8237445" y="4593425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23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619" name="Google Shape;619;p35"/>
          <p:cNvSpPr/>
          <p:nvPr/>
        </p:nvSpPr>
        <p:spPr>
          <a:xfrm>
            <a:off x="518979" y="617944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5"/>
          <p:cNvSpPr txBox="1"/>
          <p:nvPr>
            <p:ph idx="1" type="subTitle"/>
          </p:nvPr>
        </p:nvSpPr>
        <p:spPr>
          <a:xfrm>
            <a:off x="968872" y="1042367"/>
            <a:ext cx="51678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highlight>
                  <a:srgbClr val="FFFFFF"/>
                </a:highlight>
                <a:latin typeface="Karla SemiBold"/>
                <a:ea typeface="Karla SemiBold"/>
                <a:cs typeface="Karla SemiBold"/>
                <a:sym typeface="Karla SemiBold"/>
              </a:rPr>
              <a:t>Kako sačuvati ‘executable’ dozvole unutar Git repozitorijuma</a:t>
            </a:r>
            <a:endParaRPr sz="1200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graphicFrame>
        <p:nvGraphicFramePr>
          <p:cNvPr id="621" name="Google Shape;621;p35"/>
          <p:cNvGraphicFramePr/>
          <p:nvPr/>
        </p:nvGraphicFramePr>
        <p:xfrm>
          <a:off x="456250" y="23623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{C3EA0C5B-CFB7-4523-871C-1D0A5CA2910F}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50">
                          <a:solidFill>
                            <a:srgbClr val="6B7280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🏠Home Directory (Cilj)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5038A6"/>
                          </a:solidFill>
                          <a:latin typeface="Karla"/>
                          <a:ea typeface="Karla"/>
                          <a:cs typeface="Karla"/>
                          <a:sym typeface="Karla"/>
                        </a:rPr>
                        <a:t>ℹ️Chezmoi Source (Izvor)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37415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🗒️~/.local/bin/skripta.sh</a:t>
                      </a:r>
                      <a:r>
                        <a:rPr lang="en" sz="1200">
                          <a:solidFill>
                            <a:srgbClr val="37415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</a:t>
                      </a:r>
                      <a:r>
                        <a:rPr b="1" lang="en" sz="900">
                          <a:solidFill>
                            <a:srgbClr val="166534"/>
                          </a:solidFill>
                          <a:highlight>
                            <a:srgbClr val="99E4AE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rwxr-xr-x (755)</a:t>
                      </a:r>
                      <a:endParaRPr sz="800">
                        <a:highlight>
                          <a:srgbClr val="99E4AE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rgbClr val="5038A6"/>
                          </a:solidFill>
                          <a:highlight>
                            <a:srgbClr val="FAF5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dot_local/bin/</a:t>
                      </a:r>
                      <a:r>
                        <a:rPr b="1" lang="en" sz="1200">
                          <a:solidFill>
                            <a:srgbClr val="166534"/>
                          </a:solidFill>
                          <a:highlight>
                            <a:srgbClr val="FAF5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executable</a:t>
                      </a:r>
                      <a:r>
                        <a:rPr b="1" lang="en" sz="1200">
                          <a:solidFill>
                            <a:srgbClr val="5038A6"/>
                          </a:solidFill>
                          <a:highlight>
                            <a:srgbClr val="FAF5FF"/>
                          </a:highlight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_skripta.sh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22" name="Google Shape;622;p35"/>
          <p:cNvSpPr txBox="1"/>
          <p:nvPr/>
        </p:nvSpPr>
        <p:spPr>
          <a:xfrm>
            <a:off x="905549" y="3281350"/>
            <a:ext cx="78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100">
                <a:solidFill>
                  <a:srgbClr val="F3E8FF"/>
                </a:solidFill>
                <a:highlight>
                  <a:srgbClr val="5038A6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Rešenje</a:t>
            </a:r>
            <a:endParaRPr sz="1600">
              <a:solidFill>
                <a:schemeClr val="dk2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623" name="Google Shape;623;p35"/>
          <p:cNvSpPr/>
          <p:nvPr/>
        </p:nvSpPr>
        <p:spPr>
          <a:xfrm>
            <a:off x="708607" y="3338010"/>
            <a:ext cx="233700" cy="233700"/>
          </a:xfrm>
          <a:prstGeom prst="ellipse">
            <a:avLst/>
          </a:prstGeom>
          <a:solidFill>
            <a:srgbClr val="F3E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5"/>
          <p:cNvSpPr/>
          <p:nvPr/>
        </p:nvSpPr>
        <p:spPr>
          <a:xfrm>
            <a:off x="456250" y="1482091"/>
            <a:ext cx="7239000" cy="723300"/>
          </a:xfrm>
          <a:prstGeom prst="rect">
            <a:avLst/>
          </a:prstGeom>
          <a:solidFill>
            <a:srgbClr val="FA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5"/>
          <p:cNvSpPr txBox="1"/>
          <p:nvPr/>
        </p:nvSpPr>
        <p:spPr>
          <a:xfrm>
            <a:off x="749050" y="1520325"/>
            <a:ext cx="1882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rgbClr val="991B1B"/>
                </a:solidFill>
                <a:highlight>
                  <a:srgbClr val="FEF2F2"/>
                </a:highlight>
                <a:latin typeface="Karla"/>
                <a:ea typeface="Karla"/>
                <a:cs typeface="Karla"/>
                <a:sym typeface="Karla"/>
              </a:rPr>
              <a:t>Problem: Git i dozvole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6" name="Google Shape;626;p35"/>
          <p:cNvSpPr txBox="1"/>
          <p:nvPr/>
        </p:nvSpPr>
        <p:spPr>
          <a:xfrm>
            <a:off x="751192" y="1734030"/>
            <a:ext cx="6769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B91C1C"/>
                </a:solidFill>
                <a:highlight>
                  <a:srgbClr val="FEF2F2"/>
                </a:highlight>
                <a:latin typeface="Karla"/>
                <a:ea typeface="Karla"/>
                <a:cs typeface="Karla"/>
                <a:sym typeface="Karla"/>
              </a:rPr>
              <a:t>Git ne prati uvek precizno fajl permisije (osim +x bita), a kloniranje na različitim sistemima može resetovati dozvole skripti, čineći ih neizvršnim (644 umesto 755).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627" name="Google Shape;627;p35"/>
          <p:cNvSpPr/>
          <p:nvPr/>
        </p:nvSpPr>
        <p:spPr>
          <a:xfrm>
            <a:off x="456250" y="1482100"/>
            <a:ext cx="52200" cy="7137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8" name="Google Shape;62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569" y="3400972"/>
            <a:ext cx="107775" cy="10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313" y="734738"/>
            <a:ext cx="174525" cy="13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35"/>
          <p:cNvSpPr/>
          <p:nvPr/>
        </p:nvSpPr>
        <p:spPr>
          <a:xfrm>
            <a:off x="792825" y="3870125"/>
            <a:ext cx="3088800" cy="7233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touch script.sh</a:t>
            </a:r>
            <a:endParaRPr b="1" sz="9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chmod +x script.sh</a:t>
            </a:r>
            <a:endParaRPr b="1" sz="9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 add script.sh</a:t>
            </a:r>
            <a:endParaRPr b="1" sz="9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1" name="Google Shape;631;p35"/>
          <p:cNvSpPr txBox="1"/>
          <p:nvPr/>
        </p:nvSpPr>
        <p:spPr>
          <a:xfrm>
            <a:off x="905548" y="3530703"/>
            <a:ext cx="29760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600">
                <a:solidFill>
                  <a:srgbClr val="F3E8FF"/>
                </a:solidFill>
                <a:highlight>
                  <a:srgbClr val="5038A6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Opcija A: Automatski (Preporučeno)</a:t>
            </a:r>
            <a:br>
              <a:rPr lang="en" sz="600">
                <a:solidFill>
                  <a:srgbClr val="F3E8FF"/>
                </a:solidFill>
                <a:highlight>
                  <a:srgbClr val="5038A6"/>
                </a:highlight>
                <a:latin typeface="Karla ExtraBold"/>
                <a:ea typeface="Karla ExtraBold"/>
                <a:cs typeface="Karla ExtraBold"/>
                <a:sym typeface="Karla ExtraBold"/>
              </a:rPr>
            </a:br>
            <a:r>
              <a:rPr lang="en" sz="600">
                <a:solidFill>
                  <a:srgbClr val="F3E8FF"/>
                </a:solidFill>
                <a:highlight>
                  <a:srgbClr val="5038A6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Chezmoi automatski detektuje +x i dodaje executable_ prefiks. </a:t>
            </a:r>
            <a:endParaRPr sz="600">
              <a:solidFill>
                <a:schemeClr val="dk2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632" name="Google Shape;632;p35"/>
          <p:cNvSpPr/>
          <p:nvPr/>
        </p:nvSpPr>
        <p:spPr>
          <a:xfrm>
            <a:off x="4131350" y="3870125"/>
            <a:ext cx="3088800" cy="7233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 cd</a:t>
            </a:r>
            <a:endParaRPr b="1" sz="9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mv dot_script.sh executable_</a:t>
            </a:r>
            <a:r>
              <a:rPr b="1" lang="en" sz="9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dot_script.sh</a:t>
            </a:r>
            <a:endParaRPr b="1" sz="9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3" name="Google Shape;633;p35"/>
          <p:cNvSpPr txBox="1"/>
          <p:nvPr/>
        </p:nvSpPr>
        <p:spPr>
          <a:xfrm>
            <a:off x="4093701" y="3525443"/>
            <a:ext cx="37074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600">
                <a:solidFill>
                  <a:srgbClr val="F3E8FF"/>
                </a:solidFill>
                <a:highlight>
                  <a:srgbClr val="5038A6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Opcija B: Ručna popravka (Ako je fajl već upravljan od strane Chezmoi-a)</a:t>
            </a:r>
            <a:endParaRPr sz="600">
              <a:solidFill>
                <a:schemeClr val="dk2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6"/>
          <p:cNvSpPr/>
          <p:nvPr/>
        </p:nvSpPr>
        <p:spPr>
          <a:xfrm>
            <a:off x="411561" y="1287100"/>
            <a:ext cx="4045500" cy="3679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6"/>
          <p:cNvSpPr txBox="1"/>
          <p:nvPr>
            <p:ph type="ctrTitle"/>
          </p:nvPr>
        </p:nvSpPr>
        <p:spPr>
          <a:xfrm>
            <a:off x="840837" y="192800"/>
            <a:ext cx="38484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Git Tok Rada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40" name="Google Shape;640;p36"/>
          <p:cNvSpPr/>
          <p:nvPr/>
        </p:nvSpPr>
        <p:spPr>
          <a:xfrm>
            <a:off x="4185225" y="-390950"/>
            <a:ext cx="1196400" cy="11964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6"/>
          <p:cNvSpPr/>
          <p:nvPr/>
        </p:nvSpPr>
        <p:spPr>
          <a:xfrm>
            <a:off x="3993600" y="3627625"/>
            <a:ext cx="800400" cy="8004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6"/>
          <p:cNvSpPr/>
          <p:nvPr/>
        </p:nvSpPr>
        <p:spPr>
          <a:xfrm>
            <a:off x="693261" y="2135468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6"/>
          <p:cNvSpPr txBox="1"/>
          <p:nvPr>
            <p:ph idx="1" type="subTitle"/>
          </p:nvPr>
        </p:nvSpPr>
        <p:spPr>
          <a:xfrm>
            <a:off x="1066460" y="2020758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Ulazak u repo direktorijum (Chezmoi dir)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44" name="Google Shape;644;p36"/>
          <p:cNvSpPr/>
          <p:nvPr/>
        </p:nvSpPr>
        <p:spPr>
          <a:xfrm>
            <a:off x="685761" y="2916529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36"/>
          <p:cNvSpPr txBox="1"/>
          <p:nvPr>
            <p:ph idx="1" type="subTitle"/>
          </p:nvPr>
        </p:nvSpPr>
        <p:spPr>
          <a:xfrm>
            <a:off x="1090585" y="2776069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Dodavanje izmena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46" name="Google Shape;646;p36"/>
          <p:cNvSpPr txBox="1"/>
          <p:nvPr/>
        </p:nvSpPr>
        <p:spPr>
          <a:xfrm>
            <a:off x="8452970" y="4593400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24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647" name="Google Shape;647;p36"/>
          <p:cNvSpPr/>
          <p:nvPr/>
        </p:nvSpPr>
        <p:spPr>
          <a:xfrm>
            <a:off x="421454" y="406394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8" name="Google Shape;64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525" y="486925"/>
            <a:ext cx="174001" cy="198851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6"/>
          <p:cNvSpPr txBox="1"/>
          <p:nvPr>
            <p:ph idx="1" type="subTitle"/>
          </p:nvPr>
        </p:nvSpPr>
        <p:spPr>
          <a:xfrm>
            <a:off x="907497" y="861617"/>
            <a:ext cx="51678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B7280"/>
                </a:solidFill>
                <a:highlight>
                  <a:srgbClr val="FFFFFF"/>
                </a:highlight>
                <a:latin typeface="Karla SemiBold"/>
                <a:ea typeface="Karla SemiBold"/>
                <a:cs typeface="Karla SemiBold"/>
                <a:sym typeface="Karla SemiBold"/>
              </a:rPr>
              <a:t>Kako verzijonisati i sinhronizovati konfiguraciju</a:t>
            </a:r>
            <a:endParaRPr sz="1200">
              <a:solidFill>
                <a:schemeClr val="dk1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650" name="Google Shape;650;p36"/>
          <p:cNvSpPr txBox="1"/>
          <p:nvPr>
            <p:ph idx="1" type="subTitle"/>
          </p:nvPr>
        </p:nvSpPr>
        <p:spPr>
          <a:xfrm>
            <a:off x="756761" y="2139983"/>
            <a:ext cx="2766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1</a:t>
            </a:r>
            <a:endParaRPr sz="1200">
              <a:solidFill>
                <a:srgbClr val="5038A6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651" name="Google Shape;651;p36"/>
          <p:cNvSpPr txBox="1"/>
          <p:nvPr>
            <p:ph idx="1" type="subTitle"/>
          </p:nvPr>
        </p:nvSpPr>
        <p:spPr>
          <a:xfrm>
            <a:off x="734061" y="2914182"/>
            <a:ext cx="2766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2</a:t>
            </a:r>
            <a:endParaRPr sz="1200">
              <a:solidFill>
                <a:srgbClr val="5038A6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652" name="Google Shape;652;p36"/>
          <p:cNvSpPr/>
          <p:nvPr/>
        </p:nvSpPr>
        <p:spPr>
          <a:xfrm>
            <a:off x="1179311" y="2350008"/>
            <a:ext cx="3086100" cy="297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chezmoi cd</a:t>
            </a:r>
            <a:endParaRPr b="1"/>
          </a:p>
        </p:txBody>
      </p:sp>
      <p:sp>
        <p:nvSpPr>
          <p:cNvPr id="653" name="Google Shape;653;p36"/>
          <p:cNvSpPr/>
          <p:nvPr/>
        </p:nvSpPr>
        <p:spPr>
          <a:xfrm>
            <a:off x="1179311" y="3077058"/>
            <a:ext cx="3086100" cy="297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git add .</a:t>
            </a:r>
            <a:endParaRPr b="1"/>
          </a:p>
        </p:txBody>
      </p:sp>
      <p:sp>
        <p:nvSpPr>
          <p:cNvPr id="654" name="Google Shape;654;p36"/>
          <p:cNvSpPr/>
          <p:nvPr/>
        </p:nvSpPr>
        <p:spPr>
          <a:xfrm>
            <a:off x="685761" y="3594826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6"/>
          <p:cNvSpPr txBox="1"/>
          <p:nvPr>
            <p:ph idx="1" type="subTitle"/>
          </p:nvPr>
        </p:nvSpPr>
        <p:spPr>
          <a:xfrm>
            <a:off x="1090585" y="3454367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Commit izmena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56" name="Google Shape;656;p36"/>
          <p:cNvSpPr txBox="1"/>
          <p:nvPr>
            <p:ph idx="1" type="subTitle"/>
          </p:nvPr>
        </p:nvSpPr>
        <p:spPr>
          <a:xfrm>
            <a:off x="734061" y="3592479"/>
            <a:ext cx="2766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3</a:t>
            </a:r>
            <a:endParaRPr sz="1200">
              <a:solidFill>
                <a:srgbClr val="5038A6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657" name="Google Shape;657;p36"/>
          <p:cNvSpPr/>
          <p:nvPr/>
        </p:nvSpPr>
        <p:spPr>
          <a:xfrm>
            <a:off x="1179311" y="3755358"/>
            <a:ext cx="3086100" cy="297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git commit -m “New changes”</a:t>
            </a:r>
            <a:endParaRPr b="1"/>
          </a:p>
        </p:txBody>
      </p:sp>
      <p:sp>
        <p:nvSpPr>
          <p:cNvPr id="658" name="Google Shape;658;p36"/>
          <p:cNvSpPr/>
          <p:nvPr/>
        </p:nvSpPr>
        <p:spPr>
          <a:xfrm>
            <a:off x="680548" y="4270804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6"/>
          <p:cNvSpPr txBox="1"/>
          <p:nvPr>
            <p:ph idx="1" type="subTitle"/>
          </p:nvPr>
        </p:nvSpPr>
        <p:spPr>
          <a:xfrm>
            <a:off x="1085372" y="4130344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Push na remote</a:t>
            </a:r>
            <a:endParaRPr b="1" sz="12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60" name="Google Shape;660;p36"/>
          <p:cNvSpPr txBox="1"/>
          <p:nvPr>
            <p:ph idx="1" type="subTitle"/>
          </p:nvPr>
        </p:nvSpPr>
        <p:spPr>
          <a:xfrm>
            <a:off x="728848" y="4268457"/>
            <a:ext cx="2766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4</a:t>
            </a:r>
            <a:endParaRPr sz="1200">
              <a:solidFill>
                <a:srgbClr val="5038A6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661" name="Google Shape;661;p36"/>
          <p:cNvSpPr/>
          <p:nvPr/>
        </p:nvSpPr>
        <p:spPr>
          <a:xfrm>
            <a:off x="1174098" y="4431333"/>
            <a:ext cx="3086100" cy="2976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git push origin main</a:t>
            </a:r>
            <a:endParaRPr b="1"/>
          </a:p>
        </p:txBody>
      </p:sp>
      <p:sp>
        <p:nvSpPr>
          <p:cNvPr id="662" name="Google Shape;662;p36"/>
          <p:cNvSpPr txBox="1"/>
          <p:nvPr>
            <p:ph type="ctrTitle"/>
          </p:nvPr>
        </p:nvSpPr>
        <p:spPr>
          <a:xfrm>
            <a:off x="1085366" y="1436688"/>
            <a:ext cx="2216700" cy="47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Ručni Git Proces</a:t>
            </a:r>
            <a:endParaRPr b="1" sz="19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63" name="Google Shape;663;p36"/>
          <p:cNvSpPr/>
          <p:nvPr/>
        </p:nvSpPr>
        <p:spPr>
          <a:xfrm>
            <a:off x="4604610" y="1230925"/>
            <a:ext cx="4045500" cy="3735600"/>
          </a:xfrm>
          <a:prstGeom prst="roundRect">
            <a:avLst>
              <a:gd fmla="val 16667" name="adj"/>
            </a:avLst>
          </a:prstGeom>
          <a:solidFill>
            <a:srgbClr val="5138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Karla Medium"/>
              <a:ea typeface="Karla Medium"/>
              <a:cs typeface="Karla Medium"/>
              <a:sym typeface="Karla Medium"/>
            </a:endParaRPr>
          </a:p>
        </p:txBody>
      </p:sp>
      <p:sp>
        <p:nvSpPr>
          <p:cNvPr id="664" name="Google Shape;664;p36"/>
          <p:cNvSpPr txBox="1"/>
          <p:nvPr>
            <p:ph type="ctrTitle"/>
          </p:nvPr>
        </p:nvSpPr>
        <p:spPr>
          <a:xfrm>
            <a:off x="4956485" y="1499575"/>
            <a:ext cx="3496500" cy="47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EFECF7"/>
                </a:solidFill>
                <a:latin typeface="Karla"/>
                <a:ea typeface="Karla"/>
                <a:cs typeface="Karla"/>
                <a:sym typeface="Karla"/>
              </a:rPr>
              <a:t>Automatizacija (Auto Push)</a:t>
            </a:r>
            <a:endParaRPr b="1" sz="1900">
              <a:solidFill>
                <a:srgbClr val="EFECF7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65" name="Google Shape;665;p36"/>
          <p:cNvSpPr txBox="1"/>
          <p:nvPr/>
        </p:nvSpPr>
        <p:spPr>
          <a:xfrm>
            <a:off x="4956485" y="1976575"/>
            <a:ext cx="35718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800">
                <a:solidFill>
                  <a:srgbClr val="F3E8FF"/>
                </a:solidFill>
                <a:highlight>
                  <a:srgbClr val="5038A6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Konfiguriši Chezmoi da automatski radi commit i push nakon svake izmene. Dodaj ovo u </a:t>
            </a:r>
            <a:r>
              <a:rPr lang="en" sz="800">
                <a:solidFill>
                  <a:srgbClr val="F3E8FF"/>
                </a:solidFill>
                <a:highlight>
                  <a:srgbClr val="9333EA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~/.config/chezmoi/chezmoi.toml</a:t>
            </a:r>
            <a:r>
              <a:rPr lang="en" sz="800">
                <a:solidFill>
                  <a:srgbClr val="F3E8FF"/>
                </a:solidFill>
                <a:highlight>
                  <a:srgbClr val="5038A6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: </a:t>
            </a:r>
            <a:endParaRPr sz="1300">
              <a:solidFill>
                <a:schemeClr val="dk2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666" name="Google Shape;666;p36"/>
          <p:cNvSpPr/>
          <p:nvPr/>
        </p:nvSpPr>
        <p:spPr>
          <a:xfrm>
            <a:off x="5030335" y="2466975"/>
            <a:ext cx="3240900" cy="15861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E4AE"/>
                </a:solidFill>
                <a:latin typeface="Roboto Mono"/>
                <a:ea typeface="Roboto Mono"/>
                <a:cs typeface="Roboto Mono"/>
                <a:sym typeface="Roboto Mono"/>
              </a:rPr>
              <a:t># </a:t>
            </a:r>
            <a:r>
              <a:rPr lang="en" sz="1100">
                <a:solidFill>
                  <a:srgbClr val="99E4AE"/>
                </a:solidFill>
                <a:latin typeface="Roboto Mono"/>
                <a:ea typeface="Roboto Mono"/>
                <a:cs typeface="Roboto Mono"/>
                <a:sym typeface="Roboto Mono"/>
              </a:rPr>
              <a:t>~/.config/chezmoi/chezmoi.toml</a:t>
            </a:r>
            <a:endParaRPr sz="1100">
              <a:solidFill>
                <a:srgbClr val="99E4AE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[git]</a:t>
            </a:r>
            <a:endParaRPr sz="11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autoCommit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 sz="11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autoPush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endParaRPr sz="11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commitMessageTemplate</a:t>
            </a:r>
            <a:r>
              <a:rPr lang="en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11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"{{ .chezmoi.sourceDir }}: {{ .chezmoi.sourceFile }} updated"</a:t>
            </a:r>
            <a:endParaRPr sz="1100">
              <a:solidFill>
                <a:srgbClr val="EE11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7" name="Google Shape;667;p36"/>
          <p:cNvSpPr/>
          <p:nvPr/>
        </p:nvSpPr>
        <p:spPr>
          <a:xfrm>
            <a:off x="5030335" y="4163675"/>
            <a:ext cx="3240900" cy="598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142875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36"/>
          <p:cNvSpPr txBox="1"/>
          <p:nvPr>
            <p:ph idx="1" type="subTitle"/>
          </p:nvPr>
        </p:nvSpPr>
        <p:spPr>
          <a:xfrm>
            <a:off x="5230360" y="4163675"/>
            <a:ext cx="1196400" cy="33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Kako ovo radi?</a:t>
            </a:r>
            <a:endParaRPr b="1" sz="1000">
              <a:solidFill>
                <a:srgbClr val="5038A6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669" name="Google Shape;669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1030" y="4244150"/>
            <a:ext cx="136685" cy="198851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36"/>
          <p:cNvSpPr txBox="1"/>
          <p:nvPr/>
        </p:nvSpPr>
        <p:spPr>
          <a:xfrm>
            <a:off x="5218510" y="4374925"/>
            <a:ext cx="303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74151"/>
                </a:solidFill>
                <a:latin typeface="Karla"/>
                <a:ea typeface="Karla"/>
                <a:cs typeface="Karla"/>
                <a:sym typeface="Karla"/>
              </a:rPr>
              <a:t>Svaki put kada pokreneš chezmoi apply, on će automatski komitovati i poslati izmene na GitHub. </a:t>
            </a:r>
            <a:endParaRPr sz="800">
              <a:solidFill>
                <a:srgbClr val="991B1B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37"/>
          <p:cNvSpPr txBox="1"/>
          <p:nvPr>
            <p:ph type="ctrTitle"/>
          </p:nvPr>
        </p:nvSpPr>
        <p:spPr>
          <a:xfrm>
            <a:off x="421450" y="474850"/>
            <a:ext cx="82359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Podešavanje Novog Okruženja</a:t>
            </a:r>
            <a:endParaRPr b="1" sz="40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76" name="Google Shape;676;p37"/>
          <p:cNvSpPr/>
          <p:nvPr/>
        </p:nvSpPr>
        <p:spPr>
          <a:xfrm>
            <a:off x="7520000" y="-534550"/>
            <a:ext cx="2052600" cy="20526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7"/>
          <p:cNvSpPr txBox="1"/>
          <p:nvPr/>
        </p:nvSpPr>
        <p:spPr>
          <a:xfrm>
            <a:off x="8182843" y="4593425"/>
            <a:ext cx="6975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25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678" name="Google Shape;678;p37"/>
          <p:cNvSpPr/>
          <p:nvPr/>
        </p:nvSpPr>
        <p:spPr>
          <a:xfrm>
            <a:off x="421450" y="2099023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37"/>
          <p:cNvSpPr txBox="1"/>
          <p:nvPr>
            <p:ph idx="1" type="subTitle"/>
          </p:nvPr>
        </p:nvSpPr>
        <p:spPr>
          <a:xfrm>
            <a:off x="792800" y="2087228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Scenario</a:t>
            </a:r>
            <a:r>
              <a:rPr b="1" lang="en" sz="1200">
                <a:solidFill>
                  <a:srgbClr val="5038A6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: </a:t>
            </a:r>
            <a:r>
              <a:rPr lang="en" sz="1200">
                <a:solidFill>
                  <a:srgbClr val="33333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Nov, prazan </a:t>
            </a:r>
            <a:r>
              <a:rPr b="1" lang="en" sz="1200">
                <a:solidFill>
                  <a:srgbClr val="5038A6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MacBook.</a:t>
            </a:r>
            <a:endParaRPr sz="9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80" name="Google Shape;680;p37"/>
          <p:cNvSpPr/>
          <p:nvPr/>
        </p:nvSpPr>
        <p:spPr>
          <a:xfrm>
            <a:off x="421450" y="2676690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7"/>
          <p:cNvSpPr txBox="1"/>
          <p:nvPr>
            <p:ph idx="1" type="subTitle"/>
          </p:nvPr>
        </p:nvSpPr>
        <p:spPr>
          <a:xfrm>
            <a:off x="792800" y="2666023"/>
            <a:ext cx="3848400" cy="369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333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Jedna linija koda:</a:t>
            </a:r>
            <a:endParaRPr sz="90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82" name="Google Shape;682;p37"/>
          <p:cNvSpPr txBox="1"/>
          <p:nvPr>
            <p:ph idx="1" type="subTitle"/>
          </p:nvPr>
        </p:nvSpPr>
        <p:spPr>
          <a:xfrm>
            <a:off x="792800" y="3958886"/>
            <a:ext cx="3848400" cy="554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33333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Za 60 sekundi: Instalacija alata, kloniranje repoa,</a:t>
            </a:r>
            <a:endParaRPr sz="1200">
              <a:solidFill>
                <a:srgbClr val="333333"/>
              </a:solidFill>
              <a:highlight>
                <a:schemeClr val="lt1"/>
              </a:highlight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333333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generisanje fajlova.</a:t>
            </a:r>
            <a:endParaRPr sz="1200">
              <a:solidFill>
                <a:srgbClr val="333333"/>
              </a:solidFill>
              <a:highlight>
                <a:schemeClr val="lt1"/>
              </a:highlight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83" name="Google Shape;683;p37"/>
          <p:cNvSpPr/>
          <p:nvPr/>
        </p:nvSpPr>
        <p:spPr>
          <a:xfrm>
            <a:off x="-540450" y="3543768"/>
            <a:ext cx="1744800" cy="17448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37"/>
          <p:cNvSpPr/>
          <p:nvPr/>
        </p:nvSpPr>
        <p:spPr>
          <a:xfrm>
            <a:off x="421450" y="3970681"/>
            <a:ext cx="373200" cy="373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5" name="Google Shape;68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00" y="2213833"/>
            <a:ext cx="179501" cy="14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324" y="2794944"/>
            <a:ext cx="85450" cy="13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138" y="4075072"/>
            <a:ext cx="143825" cy="16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37" title="Chezmoi Demo.webm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09950" y="1909750"/>
            <a:ext cx="4306349" cy="2546999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37"/>
          <p:cNvSpPr/>
          <p:nvPr/>
        </p:nvSpPr>
        <p:spPr>
          <a:xfrm>
            <a:off x="536150" y="3183601"/>
            <a:ext cx="3848400" cy="6417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$ 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sh -c "$(curl -fsLS chezmoi.io/get)" </a:t>
            </a:r>
            <a:endParaRPr b="1" sz="1100">
              <a:solidFill>
                <a:srgbClr val="DCDC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--init --apply &lt;link-to-dotfiles-git-repo&gt;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8"/>
          <p:cNvSpPr txBox="1"/>
          <p:nvPr>
            <p:ph type="ctrTitle"/>
          </p:nvPr>
        </p:nvSpPr>
        <p:spPr>
          <a:xfrm>
            <a:off x="518975" y="346775"/>
            <a:ext cx="2338500" cy="72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5038A6"/>
                </a:solidFill>
                <a:latin typeface="Karla"/>
                <a:ea typeface="Karla"/>
                <a:cs typeface="Karla"/>
                <a:sym typeface="Karla"/>
              </a:rPr>
              <a:t>Zaključak</a:t>
            </a:r>
            <a:endParaRPr b="1" sz="3500">
              <a:solidFill>
                <a:srgbClr val="5138A5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95" name="Google Shape;695;p38"/>
          <p:cNvSpPr txBox="1"/>
          <p:nvPr/>
        </p:nvSpPr>
        <p:spPr>
          <a:xfrm>
            <a:off x="8190408" y="4593425"/>
            <a:ext cx="6408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26</a:t>
            </a:r>
            <a:r>
              <a:rPr lang="en" sz="1200">
                <a:solidFill>
                  <a:srgbClr val="5038A6"/>
                </a:solidFill>
                <a:latin typeface="Karla SemiBold"/>
                <a:ea typeface="Karla SemiBold"/>
                <a:cs typeface="Karla SemiBold"/>
                <a:sym typeface="Karla SemiBold"/>
              </a:rPr>
              <a:t>/26</a:t>
            </a:r>
            <a:endParaRPr sz="1200">
              <a:solidFill>
                <a:srgbClr val="5038A6"/>
              </a:solidFill>
              <a:latin typeface="Karla SemiBold"/>
              <a:ea typeface="Karla SemiBold"/>
              <a:cs typeface="Karla SemiBold"/>
              <a:sym typeface="Karla SemiBold"/>
            </a:endParaRPr>
          </a:p>
        </p:txBody>
      </p:sp>
      <p:sp>
        <p:nvSpPr>
          <p:cNvPr id="696" name="Google Shape;696;p38"/>
          <p:cNvSpPr/>
          <p:nvPr/>
        </p:nvSpPr>
        <p:spPr>
          <a:xfrm>
            <a:off x="583550" y="1229489"/>
            <a:ext cx="4115700" cy="77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8"/>
          <p:cNvSpPr txBox="1"/>
          <p:nvPr/>
        </p:nvSpPr>
        <p:spPr>
          <a:xfrm>
            <a:off x="1332613" y="1347076"/>
            <a:ext cx="249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rgbClr val="1F2937"/>
                </a:solidFill>
                <a:highlight>
                  <a:srgbClr val="FFFFFF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Sigurnost</a:t>
            </a:r>
            <a:endParaRPr sz="1200">
              <a:solidFill>
                <a:srgbClr val="5038A6"/>
              </a:solidFill>
              <a:highlight>
                <a:srgbClr val="FFFFFF"/>
              </a:highlight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698" name="Google Shape;698;p38"/>
          <p:cNvSpPr txBox="1"/>
          <p:nvPr/>
        </p:nvSpPr>
        <p:spPr>
          <a:xfrm>
            <a:off x="1332625" y="1621411"/>
            <a:ext cx="34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Uvek proveri </a:t>
            </a:r>
            <a:r>
              <a:rPr b="1" lang="en" sz="1000">
                <a:solidFill>
                  <a:srgbClr val="5038A6"/>
                </a:solidFill>
                <a:latin typeface="Courier New"/>
                <a:ea typeface="Courier New"/>
                <a:cs typeface="Courier New"/>
                <a:sym typeface="Courier New"/>
              </a:rPr>
              <a:t>diff</a:t>
            </a:r>
            <a:r>
              <a:rPr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 pre </a:t>
            </a:r>
            <a:r>
              <a:rPr b="1" lang="en" sz="1000">
                <a:solidFill>
                  <a:srgbClr val="5038A6"/>
                </a:solidFill>
                <a:latin typeface="Courier New"/>
                <a:ea typeface="Courier New"/>
                <a:cs typeface="Courier New"/>
                <a:sym typeface="Courier New"/>
              </a:rPr>
              <a:t>apply</a:t>
            </a:r>
            <a:r>
              <a:rPr lang="en" sz="1000">
                <a:solidFill>
                  <a:srgbClr val="4B5563"/>
                </a:solidFill>
                <a:highlight>
                  <a:srgbClr val="FFFFFF"/>
                </a:highlight>
                <a:latin typeface="Karla"/>
                <a:ea typeface="Karla"/>
                <a:cs typeface="Karla"/>
                <a:sym typeface="Karla"/>
              </a:rPr>
              <a:t>.</a:t>
            </a:r>
            <a:endParaRPr b="1" sz="10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699" name="Google Shape;699;p38"/>
          <p:cNvSpPr/>
          <p:nvPr/>
        </p:nvSpPr>
        <p:spPr>
          <a:xfrm>
            <a:off x="784075" y="1388786"/>
            <a:ext cx="457200" cy="457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0" name="Google Shape;7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298" y="1501012"/>
            <a:ext cx="232750" cy="2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38"/>
          <p:cNvSpPr/>
          <p:nvPr/>
        </p:nvSpPr>
        <p:spPr>
          <a:xfrm>
            <a:off x="583538" y="2132026"/>
            <a:ext cx="4115700" cy="77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38"/>
          <p:cNvSpPr txBox="1"/>
          <p:nvPr/>
        </p:nvSpPr>
        <p:spPr>
          <a:xfrm>
            <a:off x="1332601" y="2249614"/>
            <a:ext cx="249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rgbClr val="1F2937"/>
                </a:solidFill>
                <a:highlight>
                  <a:srgbClr val="FFFFFF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Fleksibilnost</a:t>
            </a:r>
            <a:endParaRPr sz="1200">
              <a:solidFill>
                <a:srgbClr val="5038A6"/>
              </a:solidFill>
              <a:highlight>
                <a:srgbClr val="FFFFFF"/>
              </a:highlight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703" name="Google Shape;703;p38"/>
          <p:cNvSpPr txBox="1"/>
          <p:nvPr/>
        </p:nvSpPr>
        <p:spPr>
          <a:xfrm>
            <a:off x="1332613" y="2523948"/>
            <a:ext cx="34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4B5563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Moćni šabloni za različite OS i kontekste (Posao/Kuća).</a:t>
            </a:r>
            <a:endParaRPr b="1" sz="10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4" name="Google Shape;704;p38"/>
          <p:cNvSpPr/>
          <p:nvPr/>
        </p:nvSpPr>
        <p:spPr>
          <a:xfrm>
            <a:off x="784063" y="2291324"/>
            <a:ext cx="457200" cy="457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38"/>
          <p:cNvSpPr/>
          <p:nvPr/>
        </p:nvSpPr>
        <p:spPr>
          <a:xfrm>
            <a:off x="583550" y="4068389"/>
            <a:ext cx="4115700" cy="77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8"/>
          <p:cNvSpPr txBox="1"/>
          <p:nvPr/>
        </p:nvSpPr>
        <p:spPr>
          <a:xfrm>
            <a:off x="1332613" y="4185976"/>
            <a:ext cx="249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rgbClr val="1F2937"/>
                </a:solidFill>
                <a:highlight>
                  <a:srgbClr val="FFFFFF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Sledeći korak</a:t>
            </a:r>
            <a:endParaRPr sz="1200">
              <a:solidFill>
                <a:srgbClr val="5038A6"/>
              </a:solidFill>
              <a:highlight>
                <a:srgbClr val="FFFFFF"/>
              </a:highlight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707" name="Google Shape;707;p38"/>
          <p:cNvSpPr txBox="1"/>
          <p:nvPr/>
        </p:nvSpPr>
        <p:spPr>
          <a:xfrm>
            <a:off x="1332625" y="4460311"/>
            <a:ext cx="34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B5563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Pokreni </a:t>
            </a:r>
            <a:r>
              <a:rPr b="1" lang="en" sz="1000">
                <a:solidFill>
                  <a:srgbClr val="5038A6"/>
                </a:solidFill>
                <a:latin typeface="Courier New"/>
                <a:ea typeface="Courier New"/>
                <a:cs typeface="Courier New"/>
                <a:sym typeface="Courier New"/>
              </a:rPr>
              <a:t>chezmoi init</a:t>
            </a:r>
            <a:r>
              <a:rPr lang="en" sz="1000">
                <a:solidFill>
                  <a:srgbClr val="4B5563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 i preuzmi kontrolu.</a:t>
            </a:r>
            <a:endParaRPr b="1" sz="10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08" name="Google Shape;708;p38"/>
          <p:cNvSpPr/>
          <p:nvPr/>
        </p:nvSpPr>
        <p:spPr>
          <a:xfrm>
            <a:off x="784075" y="4227686"/>
            <a:ext cx="457200" cy="457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9" name="Google Shape;70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6111" y="2423351"/>
            <a:ext cx="193149" cy="19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1706" y="4345325"/>
            <a:ext cx="221925" cy="2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38"/>
          <p:cNvSpPr/>
          <p:nvPr/>
        </p:nvSpPr>
        <p:spPr>
          <a:xfrm>
            <a:off x="583550" y="3100201"/>
            <a:ext cx="4115700" cy="775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  <a:effectLst>
            <a:outerShdw blurRad="285750" rotWithShape="0" algn="bl" dir="5400000" dist="19050">
              <a:srgbClr val="000000">
                <a:alpha val="25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8"/>
          <p:cNvSpPr txBox="1"/>
          <p:nvPr/>
        </p:nvSpPr>
        <p:spPr>
          <a:xfrm>
            <a:off x="1332613" y="3217789"/>
            <a:ext cx="249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200">
                <a:solidFill>
                  <a:srgbClr val="1F2937"/>
                </a:solidFill>
                <a:highlight>
                  <a:srgbClr val="FFFFFF"/>
                </a:highlight>
                <a:latin typeface="Karla ExtraBold"/>
                <a:ea typeface="Karla ExtraBold"/>
                <a:cs typeface="Karla ExtraBold"/>
                <a:sym typeface="Karla ExtraBold"/>
              </a:rPr>
              <a:t>Automatizacija</a:t>
            </a:r>
            <a:endParaRPr sz="1200">
              <a:solidFill>
                <a:srgbClr val="5038A6"/>
              </a:solidFill>
              <a:highlight>
                <a:srgbClr val="FFFFFF"/>
              </a:highlight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713" name="Google Shape;713;p38"/>
          <p:cNvSpPr txBox="1"/>
          <p:nvPr/>
        </p:nvSpPr>
        <p:spPr>
          <a:xfrm>
            <a:off x="1332625" y="3492123"/>
            <a:ext cx="34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B5563"/>
                </a:solidFill>
                <a:highlight>
                  <a:schemeClr val="lt1"/>
                </a:highlight>
                <a:latin typeface="Karla"/>
                <a:ea typeface="Karla"/>
                <a:cs typeface="Karla"/>
                <a:sym typeface="Karla"/>
              </a:rPr>
              <a:t>Okidači (Hooks) automatski instaliraju softver.</a:t>
            </a:r>
            <a:endParaRPr b="1" sz="10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714" name="Google Shape;714;p38"/>
          <p:cNvSpPr/>
          <p:nvPr/>
        </p:nvSpPr>
        <p:spPr>
          <a:xfrm>
            <a:off x="784075" y="3259499"/>
            <a:ext cx="457200" cy="457200"/>
          </a:xfrm>
          <a:prstGeom prst="ellipse">
            <a:avLst/>
          </a:prstGeom>
          <a:solidFill>
            <a:srgbClr val="5038A6">
              <a:alpha val="9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9612" y="3373651"/>
            <a:ext cx="286125" cy="2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38"/>
          <p:cNvSpPr/>
          <p:nvPr/>
        </p:nvSpPr>
        <p:spPr>
          <a:xfrm>
            <a:off x="5054425" y="508000"/>
            <a:ext cx="3475200" cy="4336200"/>
          </a:xfrm>
          <a:prstGeom prst="roundRect">
            <a:avLst>
              <a:gd fmla="val 16667" name="adj"/>
            </a:avLst>
          </a:prstGeom>
          <a:solidFill>
            <a:srgbClr val="DDD8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717" name="Google Shape;717;p3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52063" y="1229497"/>
            <a:ext cx="1079925" cy="95995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38"/>
          <p:cNvSpPr txBox="1"/>
          <p:nvPr/>
        </p:nvSpPr>
        <p:spPr>
          <a:xfrm>
            <a:off x="5230975" y="2287050"/>
            <a:ext cx="3122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" sz="2500">
                <a:solidFill>
                  <a:srgbClr val="5038A6"/>
                </a:solidFill>
                <a:latin typeface="Karla ExtraBold"/>
                <a:ea typeface="Karla ExtraBold"/>
                <a:cs typeface="Karla ExtraBold"/>
                <a:sym typeface="Karla ExtraBold"/>
              </a:rPr>
              <a:t>Q&amp;A</a:t>
            </a:r>
            <a:endParaRPr sz="2500">
              <a:solidFill>
                <a:schemeClr val="dk2"/>
              </a:solidFill>
              <a:latin typeface="Karla ExtraBold"/>
              <a:ea typeface="Karla ExtraBold"/>
              <a:cs typeface="Karla ExtraBold"/>
              <a:sym typeface="Karla ExtraBold"/>
            </a:endParaRPr>
          </a:p>
        </p:txBody>
      </p:sp>
      <p:sp>
        <p:nvSpPr>
          <p:cNvPr id="719" name="Google Shape;719;p38"/>
          <p:cNvSpPr txBox="1"/>
          <p:nvPr/>
        </p:nvSpPr>
        <p:spPr>
          <a:xfrm>
            <a:off x="5829560" y="2810811"/>
            <a:ext cx="213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Imate li pitanja?</a:t>
            </a:r>
            <a:endParaRPr b="1" sz="1800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